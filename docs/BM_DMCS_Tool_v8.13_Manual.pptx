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6"/>
  </p:notesMasterIdLst>
  <p:sldIdLst>
    <p:sldId id="340" r:id="rId5"/>
    <p:sldId id="450" r:id="rId6"/>
    <p:sldId id="517" r:id="rId7"/>
    <p:sldId id="562" r:id="rId51"/>
    <p:sldId id="563" r:id="rId52"/>
    <p:sldId id="564" r:id="rId53"/>
    <p:sldId id="565" r:id="rId54"/>
    <p:sldId id="566" r:id="rId55"/>
    <p:sldId id="567" r:id="rId56"/>
    <p:sldId id="568" r:id="rId57"/>
    <p:sldId id="569" r:id="rId58"/>
    <p:sldId id="570" r:id="rId59"/>
    <p:sldId id="571" r:id="rId60"/>
    <p:sldId id="572" r:id="rId61"/>
    <p:sldId id="573" r:id="rId62"/>
  </p:sldIdLst>
  <p:sldSz cx="9144000" cy="6858000" type="screen4x3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sz="1000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sz="1000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sz="1000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sz="1000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CEDE356-1D47-44D5-8C90-84CE68AA2FFB}">
          <p14:sldIdLst>
            <p14:sldId id="340"/>
            <p14:sldId id="450"/>
            <p14:sldId id="517"/>
          </p14:sldIdLst>
        </p14:section>
        <p14:section name="01. 통합권한 신청" id="{DFB8CD9D-0E81-440D-B40E-CE9C7C750FB3}">
          <p14:sldIdLst>
            <p14:sldId id="516"/>
          </p14:sldIdLst>
        </p14:section>
        <p14:section name="02. MAIN" id="{2ED71BD1-AFBA-4C31-A7A8-CC8873E5727D}">
          <p14:sldIdLst>
            <p14:sldId id="482"/>
            <p14:sldId id="501"/>
            <p14:sldId id="378"/>
            <p14:sldId id="502"/>
            <p14:sldId id="558"/>
            <p14:sldId id="503"/>
          </p14:sldIdLst>
        </p14:section>
        <p14:section name="03. PDF Upload 및 결과 확인" id="{38EE047E-EA96-43A9-A3D9-D532785390CA}">
          <p14:sldIdLst>
            <p14:sldId id="505"/>
            <p14:sldId id="504"/>
            <p14:sldId id="506"/>
            <p14:sldId id="507"/>
            <p14:sldId id="508"/>
            <p14:sldId id="510"/>
          </p14:sldIdLst>
        </p14:section>
        <p14:section name="04. PDF 추출 상세" id="{35CC3DEC-DFBF-4E58-BA50-54EFBB863FD2}">
          <p14:sldIdLst>
            <p14:sldId id="511"/>
            <p14:sldId id="512"/>
            <p14:sldId id="513"/>
            <p14:sldId id="514"/>
            <p14:sldId id="515"/>
          </p14:sldIdLst>
        </p14:section>
        <p14:section name="05. 공통코드 (부서관리자)" id="{B37CDE40-7849-4428-BAEF-4552BE8DF56F}">
          <p14:sldIdLst>
            <p14:sldId id="560"/>
            <p14:sldId id="559"/>
            <p14:sldId id="561"/>
          </p14:sldIdLst>
        </p14:section>
        <p14:section name="06. Entity (부서관리자 권한)" id="{2CC40984-3404-449C-B4C8-2D369F8515F7}">
          <p14:sldIdLst>
            <p14:sldId id="527"/>
            <p14:sldId id="556"/>
            <p14:sldId id="530"/>
            <p14:sldId id="555"/>
            <p14:sldId id="557"/>
            <p14:sldId id="537"/>
            <p14:sldId id="529"/>
            <p14:sldId id="531"/>
            <p14:sldId id="540"/>
          </p14:sldIdLst>
        </p14:section>
        <p14:section name="07. PROMPT (부서관리자)" id="{245CD263-B898-42C2-8D25-BD11AE0040D2}">
          <p14:sldIdLst>
            <p14:sldId id="542"/>
            <p14:sldId id="545"/>
            <p14:sldId id="546"/>
            <p14:sldId id="547"/>
            <p14:sldId id="548"/>
            <p14:sldId id="549"/>
            <p14:sldId id="550"/>
            <p14:sldId id="5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272" userDrawn="1">
          <p15:clr>
            <a:srgbClr val="A4A3A4"/>
          </p15:clr>
        </p15:guide>
        <p15:guide id="4" pos="5488" userDrawn="1">
          <p15:clr>
            <a:srgbClr val="A4A3A4"/>
          </p15:clr>
        </p15:guide>
        <p15:guide id="5" orient="horz" pos="731" userDrawn="1">
          <p15:clr>
            <a:srgbClr val="A4A3A4"/>
          </p15:clr>
        </p15:guide>
        <p15:guide id="6" orient="horz" pos="40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3F3"/>
    <a:srgbClr val="E8E8ED"/>
    <a:srgbClr val="FFFFFF"/>
    <a:srgbClr val="DADADA"/>
    <a:srgbClr val="C5C5C5"/>
    <a:srgbClr val="CFCFCF"/>
    <a:srgbClr val="D0D0D0"/>
    <a:srgbClr val="E8E8E8"/>
    <a:srgbClr val="FF0000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77" autoAdjust="0"/>
    <p:restoredTop sz="98860" autoAdjust="0"/>
  </p:normalViewPr>
  <p:slideViewPr>
    <p:cSldViewPr snapToGrid="0">
      <p:cViewPr varScale="1">
        <p:scale>
          <a:sx n="110" d="100"/>
          <a:sy n="110" d="100"/>
        </p:scale>
        <p:origin x="2022" y="114"/>
      </p:cViewPr>
      <p:guideLst>
        <p:guide orient="horz" pos="2160"/>
        <p:guide pos="2880"/>
        <p:guide pos="272"/>
        <p:guide pos="5488"/>
        <p:guide orient="horz" pos="731"/>
        <p:guide orient="horz" pos="40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996" y="90"/>
      </p:cViewPr>
      <p:guideLst/>
    </p:cSldViewPr>
  </p:notes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3B8FE5-9A5C-4A58-8EEF-83EC10563621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09B28-0B5C-40F6-BFEB-AAF1EB54A9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8435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931C9F-C182-4012-B786-223EE025680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15293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6EC402-DC88-460E-BD46-1F8759E13F2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56828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1C411E-29AB-43BA-81CF-6D4EABDBC17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30568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BA1B9-9EFC-4B5F-8F06-2005AA83210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80521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6CD9CB-B9A4-4237-AFA9-76BCD8F1B18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8432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7C4CF5-7311-43C9-88C7-9C9DF781A33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5245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E42CD9-A63A-4424-93AE-4FF16039534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03035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5D693E-FC4A-4098-8DF9-69C8C5EDA28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13249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B22C6F-E1A6-422C-98DB-A45E4B3B1D2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42290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BDF5E3-E5CC-438A-8014-E516AB246EF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13050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8AF792-39F7-4FCC-BBB9-4912F021E09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84117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B434EE-B732-4A07-B156-A4240D72B21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95543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3BAA8A-740D-4FB6-9058-BAFE3028C47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324316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제목, 텍스트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1BAD70-68C1-48F3-A79A-EA2ACF122BE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Rectangle 10"/>
          <p:cNvSpPr>
            <a:spLocks noChangeArrowheads="1"/>
          </p:cNvSpPr>
          <p:nvPr userDrawn="1"/>
        </p:nvSpPr>
        <p:spPr bwMode="auto">
          <a:xfrm>
            <a:off x="431800" y="0"/>
            <a:ext cx="8277225" cy="431800"/>
          </a:xfrm>
          <a:prstGeom prst="rect">
            <a:avLst/>
          </a:prstGeom>
          <a:solidFill>
            <a:srgbClr val="0022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/>
            <a:endParaRPr lang="ko-KR" altLang="ko-KR" sz="1800"/>
          </a:p>
        </p:txBody>
      </p:sp>
    </p:spTree>
    <p:extLst>
      <p:ext uri="{BB962C8B-B14F-4D97-AF65-F5344CB8AC3E}">
        <p14:creationId xmlns:p14="http://schemas.microsoft.com/office/powerpoint/2010/main" val="21885243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70914-795E-44CC-9A59-506ECCF6EBC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712052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7" name="바닥글 개체 틀 1"/>
          <p:cNvSpPr txBox="1">
            <a:spLocks/>
          </p:cNvSpPr>
          <p:nvPr userDrawn="1"/>
        </p:nvSpPr>
        <p:spPr>
          <a:xfrm>
            <a:off x="1003147" y="6661027"/>
            <a:ext cx="3928961" cy="152349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r" fontAlgn="ctr">
              <a:lnSpc>
                <a:spcPct val="110000"/>
              </a:lnSpc>
              <a:defRPr sz="900">
                <a:solidFill>
                  <a:schemeClr val="bg2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ctr" fontAlgn="ctr">
              <a:lnSpc>
                <a:spcPct val="110000"/>
              </a:lnSpc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fontAlgn="ctr">
              <a:lnSpc>
                <a:spcPct val="110000"/>
              </a:lnSpc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fontAlgn="ctr">
              <a:lnSpc>
                <a:spcPct val="110000"/>
              </a:lnSpc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fontAlgn="ctr">
              <a:lnSpc>
                <a:spcPct val="110000"/>
              </a:lnSpc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5pPr>
            <a:lvl6pPr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6pPr>
            <a:lvl7pPr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7pPr>
            <a:lvl8pPr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8pPr>
            <a:lvl9pPr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algn="l"/>
            <a:r>
              <a:rPr lang="ko-KR" altLang="en-US" dirty="0">
                <a:solidFill>
                  <a:schemeClr val="bg2"/>
                </a:solidFill>
              </a:rPr>
              <a:t>이 </a:t>
            </a:r>
            <a:r>
              <a:rPr lang="ko-KR" altLang="ko-KR" dirty="0">
                <a:solidFill>
                  <a:schemeClr val="bg2"/>
                </a:solidFill>
              </a:rPr>
              <a:t>정보</a:t>
            </a:r>
            <a:r>
              <a:rPr lang="en-US" altLang="ko-KR" dirty="0">
                <a:solidFill>
                  <a:schemeClr val="bg2"/>
                </a:solidFill>
              </a:rPr>
              <a:t>(</a:t>
            </a:r>
            <a:r>
              <a:rPr lang="ko-KR" altLang="ko-KR" dirty="0">
                <a:solidFill>
                  <a:schemeClr val="bg2"/>
                </a:solidFill>
              </a:rPr>
              <a:t>문서</a:t>
            </a:r>
            <a:r>
              <a:rPr lang="en-US" altLang="ko-KR" dirty="0">
                <a:solidFill>
                  <a:schemeClr val="bg2"/>
                </a:solidFill>
              </a:rPr>
              <a:t>)</a:t>
            </a:r>
            <a:r>
              <a:rPr lang="ko-KR" altLang="ko-KR" dirty="0">
                <a:solidFill>
                  <a:schemeClr val="bg2"/>
                </a:solidFill>
              </a:rPr>
              <a:t>는 </a:t>
            </a:r>
            <a:r>
              <a:rPr lang="en-US" altLang="ko-KR" dirty="0">
                <a:solidFill>
                  <a:schemeClr val="bg2"/>
                </a:solidFill>
              </a:rPr>
              <a:t>DL</a:t>
            </a:r>
            <a:r>
              <a:rPr lang="ko-KR" altLang="en-US" dirty="0">
                <a:solidFill>
                  <a:schemeClr val="bg2"/>
                </a:solidFill>
              </a:rPr>
              <a:t>이앤씨</a:t>
            </a:r>
            <a:r>
              <a:rPr lang="ko-KR" altLang="ko-KR" dirty="0">
                <a:solidFill>
                  <a:schemeClr val="bg2"/>
                </a:solidFill>
              </a:rPr>
              <a:t>의 자산으로서</a:t>
            </a:r>
            <a:r>
              <a:rPr lang="en-US" altLang="ko-KR" dirty="0">
                <a:solidFill>
                  <a:schemeClr val="bg2"/>
                </a:solidFill>
              </a:rPr>
              <a:t>, </a:t>
            </a:r>
            <a:r>
              <a:rPr lang="ko-KR" altLang="ko-KR" dirty="0">
                <a:solidFill>
                  <a:schemeClr val="bg2"/>
                </a:solidFill>
              </a:rPr>
              <a:t>허가 없는 사외반출을 금지합니다</a:t>
            </a:r>
            <a:r>
              <a:rPr lang="en-US" altLang="ko-KR" dirty="0">
                <a:solidFill>
                  <a:schemeClr val="bg2"/>
                </a:solidFill>
              </a:rPr>
              <a:t>.</a:t>
            </a:r>
            <a:endParaRPr lang="ko-KR" altLang="ko-KR" dirty="0">
              <a:solidFill>
                <a:schemeClr val="bg2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58" r="13971" b="30999"/>
          <a:stretch/>
        </p:blipFill>
        <p:spPr>
          <a:xfrm>
            <a:off x="276481" y="6421134"/>
            <a:ext cx="734814" cy="39224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5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5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6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6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6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6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6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431800" y="0"/>
            <a:ext cx="8277225" cy="287338"/>
          </a:xfrm>
          <a:prstGeom prst="rect">
            <a:avLst/>
          </a:prstGeom>
          <a:solidFill>
            <a:srgbClr val="0022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/>
            <a:endParaRPr lang="ko-KR" altLang="ko-KR" sz="1800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31799" y="554039"/>
            <a:ext cx="8028537" cy="1291854"/>
          </a:xfrm>
          <a:noFill/>
        </p:spPr>
        <p:txBody>
          <a:bodyPr lIns="0" anchor="t"/>
          <a:lstStyle/>
          <a:p>
            <a:pPr algn="l" eaLnBrk="1" hangingPunct="1">
              <a:lnSpc>
                <a:spcPct val="110000"/>
              </a:lnSpc>
            </a:pPr>
            <a:r>
              <a:rPr lang="en-US" altLang="ko-KR" b="1" dirty="0">
                <a:solidFill>
                  <a:srgbClr val="002040"/>
                </a:solidFill>
                <a:latin typeface="맑은 고딕" pitchFamily="50" charset="-127"/>
                <a:ea typeface="맑은 고딕" pitchFamily="50" charset="-127"/>
              </a:rPr>
              <a:t>3D BIM BM </a:t>
            </a:r>
            <a:r>
              <a:rPr lang="ko-KR" altLang="en-US" b="1" dirty="0">
                <a:solidFill>
                  <a:srgbClr val="002040"/>
                </a:solidFill>
                <a:latin typeface="맑은 고딕" pitchFamily="50" charset="-127"/>
                <a:ea typeface="맑은 고딕" pitchFamily="50" charset="-127"/>
              </a:rPr>
              <a:t>DMCS 변환 Tool</a:t>
            </a:r>
            <a:r>
              <a:rPr lang="en-US" altLang="ko-KR" b="1" dirty="0">
                <a:solidFill>
                  <a:srgbClr val="002040"/>
                </a:solidFill>
                <a:latin typeface="맑은 고딕" pitchFamily="50" charset="-127"/>
                <a:ea typeface="맑은 고딕" pitchFamily="50" charset="-127"/>
              </a:rPr>
              <a:t> Manual</a:t>
            </a:r>
            <a:endParaRPr lang="ko-KR" altLang="en-US" b="1" dirty="0">
              <a:solidFill>
                <a:srgbClr val="00204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31800" y="3911600"/>
            <a:ext cx="3024188" cy="1106488"/>
          </a:xfrm>
          <a:noFill/>
        </p:spPr>
        <p:txBody>
          <a:bodyPr lIns="0"/>
          <a:lstStyle/>
          <a:p>
            <a:pPr algn="l" eaLnBrk="1" hangingPunct="1">
              <a:lnSpc>
                <a:spcPct val="110000"/>
              </a:lnSpc>
            </a:pP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플랜트사업본부 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|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Piping 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Engineering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/>
            </a:r>
          </a:p>
          <a:p>
            <a:pPr algn="l" eaLnBrk="1" hangingPunct="1">
              <a:lnSpc>
                <a:spcPct val="110000"/>
              </a:lnSpc>
            </a:pPr>
            <a:r>
              <a:rPr lang="en-US" altLang="ko-KR" sz="1200" b="1" dirty="0">
                <a:latin typeface="Arial" charset="0"/>
                <a:ea typeface="맑은 고딕" pitchFamily="50" charset="-127"/>
              </a:rPr>
              <a:t>2026. 10. 02  (v8.13 Beta)</a:t>
            </a:r>
          </a:p>
          <a:p>
            <a:pPr algn="l" eaLnBrk="1" hangingPunct="1">
              <a:lnSpc>
                <a:spcPct val="110000"/>
              </a:lnSpc>
            </a:pPr>
            <a:endParaRPr lang="en-US" altLang="ko-KR" sz="1200" b="1" dirty="0">
              <a:latin typeface="Arial" charset="0"/>
              <a:ea typeface="맑은 고딕" pitchFamily="50" charset="-127"/>
            </a:endParaRPr>
          </a:p>
        </p:txBody>
      </p:sp>
      <p:sp>
        <p:nvSpPr>
          <p:cNvPr id="2054" name="Rectangle 11"/>
          <p:cNvSpPr>
            <a:spLocks noChangeArrowheads="1"/>
          </p:cNvSpPr>
          <p:nvPr/>
        </p:nvSpPr>
        <p:spPr bwMode="auto">
          <a:xfrm>
            <a:off x="431800" y="3543300"/>
            <a:ext cx="8277225" cy="38100"/>
          </a:xfrm>
          <a:prstGeom prst="rect">
            <a:avLst/>
          </a:prstGeom>
          <a:solidFill>
            <a:srgbClr val="0022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/>
            <a:endParaRPr lang="ko-KR" altLang="ko-KR" sz="1800" dirty="0"/>
          </a:p>
        </p:txBody>
      </p:sp>
    </p:spTree>
    <p:extLst>
      <p:ext uri="{BB962C8B-B14F-4D97-AF65-F5344CB8AC3E}">
        <p14:creationId xmlns:p14="http://schemas.microsoft.com/office/powerpoint/2010/main" val="4051634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10"/>
          <p:cNvSpPr>
            <a:spLocks noChangeArrowheads="1"/>
          </p:cNvSpPr>
          <p:nvPr/>
        </p:nvSpPr>
        <p:spPr bwMode="auto">
          <a:xfrm>
            <a:off x="431800" y="376238"/>
            <a:ext cx="15113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/>
          <a:lstStyle>
            <a:lvl1pPr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ko-KR" altLang="en-US" sz="3200" b="1" dirty="0">
                <a:solidFill>
                  <a:srgbClr val="002040"/>
                </a:solidFill>
                <a:latin typeface="맑은 고딕" pitchFamily="50" charset="-127"/>
                <a:ea typeface="맑은 고딕" pitchFamily="50" charset="-127"/>
              </a:rPr>
              <a:t>목차</a:t>
            </a:r>
          </a:p>
        </p:txBody>
      </p:sp>
      <p:sp>
        <p:nvSpPr>
          <p:cNvPr id="3077" name="Rectangle 33"/>
          <p:cNvSpPr>
            <a:spLocks noChangeArrowheads="1"/>
          </p:cNvSpPr>
          <p:nvPr/>
        </p:nvSpPr>
        <p:spPr bwMode="auto">
          <a:xfrm>
            <a:off x="901303" y="2627850"/>
            <a:ext cx="2844000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marL="360000" indent="-360000">
              <a:lnSpc>
                <a:spcPct val="150000"/>
              </a:lnSpc>
              <a:spcBef>
                <a:spcPts val="0"/>
              </a:spcBef>
            </a:pPr>
            <a:r>
              <a:rPr lang="en-US" altLang="ko-KR" sz="1400" b="1" dirty="0">
                <a:solidFill>
                  <a:srgbClr val="002040"/>
                </a:solidFill>
                <a:latin typeface="맑은 고딕" pitchFamily="50" charset="-127"/>
                <a:ea typeface="맑은 고딕" pitchFamily="50" charset="-127"/>
              </a:rPr>
              <a:t>02 Excel 병합</a:t>
            </a:r>
            <a:endParaRPr lang="ko-KR" altLang="en-US" sz="1400" b="1" dirty="0">
              <a:solidFill>
                <a:srgbClr val="00204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83" name="Rectangle 39"/>
          <p:cNvSpPr>
            <a:spLocks noChangeArrowheads="1"/>
          </p:cNvSpPr>
          <p:nvPr/>
        </p:nvSpPr>
        <p:spPr bwMode="auto">
          <a:xfrm>
            <a:off x="901303" y="3514818"/>
            <a:ext cx="2844000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360000" indent="-360000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ko-KR" sz="1400" b="1" dirty="0">
                <a:solidFill>
                  <a:srgbClr val="002040"/>
                </a:solidFill>
                <a:latin typeface="맑은 고딕" pitchFamily="50" charset="-127"/>
                <a:ea typeface="맑은 고딕" pitchFamily="50" charset="-127"/>
              </a:rPr>
              <a:t>03 병합 파일 수정</a:t>
            </a:r>
            <a:r>
              <a:rPr lang="ko-KR" altLang="en-US" sz="1400" b="1" dirty="0">
                <a:solidFill>
                  <a:srgbClr val="002040"/>
                </a:solidFill>
                <a:latin typeface="맑은 고딕" pitchFamily="50" charset="-127"/>
                <a:ea typeface="맑은 고딕" pitchFamily="50" charset="-127"/>
              </a:rPr>
              <a:t/>
            </a:r>
          </a:p>
        </p:txBody>
      </p:sp>
      <p:sp>
        <p:nvSpPr>
          <p:cNvPr id="3087" name="Line 43"/>
          <p:cNvSpPr>
            <a:spLocks noChangeShapeType="1"/>
          </p:cNvSpPr>
          <p:nvPr/>
        </p:nvSpPr>
        <p:spPr bwMode="auto">
          <a:xfrm flipV="1">
            <a:off x="424115" y="2603850"/>
            <a:ext cx="7652521" cy="0"/>
          </a:xfrm>
          <a:prstGeom prst="line">
            <a:avLst/>
          </a:prstGeom>
          <a:noFill/>
          <a:ln w="38100">
            <a:solidFill>
              <a:srgbClr val="00204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3088" name="Line 44"/>
          <p:cNvSpPr>
            <a:spLocks noChangeShapeType="1"/>
          </p:cNvSpPr>
          <p:nvPr/>
        </p:nvSpPr>
        <p:spPr bwMode="auto">
          <a:xfrm flipV="1">
            <a:off x="424115" y="3490818"/>
            <a:ext cx="7652521" cy="0"/>
          </a:xfrm>
          <a:prstGeom prst="line">
            <a:avLst/>
          </a:prstGeom>
          <a:noFill/>
          <a:ln w="38100">
            <a:solidFill>
              <a:srgbClr val="00204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3092" name="Rectangle 50"/>
          <p:cNvSpPr>
            <a:spLocks noChangeArrowheads="1"/>
          </p:cNvSpPr>
          <p:nvPr/>
        </p:nvSpPr>
        <p:spPr bwMode="auto">
          <a:xfrm>
            <a:off x="431800" y="0"/>
            <a:ext cx="8277225" cy="287338"/>
          </a:xfrm>
          <a:prstGeom prst="rect">
            <a:avLst/>
          </a:prstGeom>
          <a:solidFill>
            <a:srgbClr val="0022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/>
            <a:endParaRPr lang="ko-KR" altLang="ko-KR" sz="1800" dirty="0"/>
          </a:p>
        </p:txBody>
      </p:sp>
      <p:sp>
        <p:nvSpPr>
          <p:cNvPr id="15" name="Rectangle 39"/>
          <p:cNvSpPr>
            <a:spLocks noChangeArrowheads="1"/>
          </p:cNvSpPr>
          <p:nvPr/>
        </p:nvSpPr>
        <p:spPr bwMode="auto">
          <a:xfrm>
            <a:off x="901303" y="1402554"/>
            <a:ext cx="2844000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360000" indent="-360000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ko-KR" sz="1400" b="1" dirty="0">
                <a:solidFill>
                  <a:srgbClr val="002040"/>
                </a:solidFill>
                <a:latin typeface="맑은 고딕" pitchFamily="50" charset="-127"/>
                <a:ea typeface="맑은 고딕" pitchFamily="50" charset="-127"/>
              </a:rPr>
              <a:t>01 프로그램 개요</a:t>
            </a:r>
            <a:r>
              <a:rPr lang="ko-KR" altLang="en-US" sz="1400" b="1" dirty="0">
                <a:solidFill>
                  <a:srgbClr val="002040"/>
                </a:solidFill>
                <a:latin typeface="맑은 고딕" pitchFamily="50" charset="-127"/>
                <a:ea typeface="맑은 고딕" pitchFamily="50" charset="-127"/>
              </a:rPr>
              <a:t/>
            </a:r>
          </a:p>
        </p:txBody>
      </p:sp>
      <p:sp>
        <p:nvSpPr>
          <p:cNvPr id="16" name="Line 44"/>
          <p:cNvSpPr>
            <a:spLocks noChangeShapeType="1"/>
          </p:cNvSpPr>
          <p:nvPr/>
        </p:nvSpPr>
        <p:spPr bwMode="auto">
          <a:xfrm flipV="1">
            <a:off x="424115" y="1378554"/>
            <a:ext cx="7652521" cy="0"/>
          </a:xfrm>
          <a:prstGeom prst="line">
            <a:avLst/>
          </a:prstGeom>
          <a:noFill/>
          <a:ln w="38100">
            <a:solidFill>
              <a:srgbClr val="00204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Rectangle 39"/>
          <p:cNvSpPr>
            <a:spLocks noChangeArrowheads="1"/>
          </p:cNvSpPr>
          <p:nvPr/>
        </p:nvSpPr>
        <p:spPr bwMode="auto">
          <a:xfrm>
            <a:off x="901303" y="4401786"/>
            <a:ext cx="2844000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360000" indent="-360000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ko-KR" sz="1400" b="1" dirty="0">
                <a:solidFill>
                  <a:srgbClr val="002040"/>
                </a:solidFill>
                <a:latin typeface="맑은 고딕" pitchFamily="50" charset="-127"/>
                <a:ea typeface="맑은 고딕" pitchFamily="50" charset="-127"/>
              </a:rPr>
              <a:t>04 PCWBS 비교</a:t>
            </a:r>
            <a:r>
              <a:rPr lang="ko-KR" altLang="en-US" sz="1400" b="1" dirty="0">
                <a:solidFill>
                  <a:srgbClr val="002040"/>
                </a:solidFill>
                <a:latin typeface="맑은 고딕" pitchFamily="50" charset="-127"/>
                <a:ea typeface="맑은 고딕" pitchFamily="50" charset="-127"/>
              </a:rPr>
              <a:t/>
            </a:r>
          </a:p>
        </p:txBody>
      </p:sp>
      <p:sp>
        <p:nvSpPr>
          <p:cNvPr id="19" name="Line 44"/>
          <p:cNvSpPr>
            <a:spLocks noChangeShapeType="1"/>
          </p:cNvSpPr>
          <p:nvPr/>
        </p:nvSpPr>
        <p:spPr bwMode="auto">
          <a:xfrm flipV="1">
            <a:off x="424115" y="4377786"/>
            <a:ext cx="7652521" cy="0"/>
          </a:xfrm>
          <a:prstGeom prst="line">
            <a:avLst/>
          </a:prstGeom>
          <a:noFill/>
          <a:ln w="38100">
            <a:solidFill>
              <a:srgbClr val="00204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3079" name="Rectangle 35"/>
          <p:cNvSpPr>
            <a:spLocks noChangeArrowheads="1"/>
          </p:cNvSpPr>
          <p:nvPr/>
        </p:nvSpPr>
        <p:spPr bwMode="auto">
          <a:xfrm>
            <a:off x="4285420" y="1408554"/>
            <a:ext cx="3798901" cy="581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ko-KR" sz="1700" b="1" baseline="-25000" dirty="0">
                <a:latin typeface="맑은 고딕" pitchFamily="50" charset="-127"/>
                <a:ea typeface="맑은 고딕" pitchFamily="50" charset="-127"/>
              </a:rPr>
              <a:t>1-1) 실행 방법 및 폴더 구성</a:t>
            </a:r>
            <a:r>
              <a:rPr lang="ko-KR" altLang="en-US" sz="1700" b="1" baseline="-25000" dirty="0">
                <a:latin typeface="맑은 고딕" pitchFamily="50" charset="-127"/>
                <a:ea typeface="맑은 고딕" pitchFamily="50" charset="-127"/>
              </a:rPr>
              <a:t/>
            </a:r>
            <a:r>
              <a:rPr lang="en-US" altLang="ko-KR" sz="1700" b="1" baseline="-25000" dirty="0">
                <a:latin typeface="맑은 고딕" pitchFamily="50" charset="-127"/>
                <a:ea typeface="맑은 고딕" pitchFamily="50" charset="-127"/>
              </a:rPr>
              <a:t/>
            </a:r>
          </a:p>
          <a:p>
            <a:pPr eaLnBrk="1" hangingPunct="1">
              <a:lnSpc>
                <a:spcPct val="150000"/>
              </a:lnSpc>
            </a:pPr>
            <a:r>
              <a:rPr lang="en-US" altLang="ko-KR" sz="1700" b="1" baseline="-25000" dirty="0">
                <a:latin typeface="맑은 고딕" pitchFamily="50" charset="-127"/>
                <a:ea typeface="맑은 고딕" pitchFamily="50" charset="-127"/>
              </a:rPr>
              <a:t>1-2) 업무 Flow</a:t>
            </a:r>
            <a:r>
              <a:rPr lang="ko-KR" altLang="en-US" sz="1700" b="1" baseline="-25000" dirty="0">
                <a:latin typeface="맑은 고딕" pitchFamily="50" charset="-127"/>
                <a:ea typeface="맑은 고딕" pitchFamily="50" charset="-127"/>
              </a:rPr>
              <a:t/>
            </a:r>
            <a:r>
              <a:rPr lang="en-US" altLang="ko-KR" sz="1700" b="1" baseline="-25000" dirty="0">
                <a:latin typeface="맑은 고딕" pitchFamily="50" charset="-127"/>
                <a:ea typeface="맑은 고딕" pitchFamily="50" charset="-127"/>
              </a:rPr>
              <a:t/>
            </a:r>
          </a:p>
        </p:txBody>
      </p:sp>
      <p:sp>
        <p:nvSpPr>
          <p:cNvPr id="3079" name="Rectangle 35"/>
          <p:cNvSpPr>
            <a:spLocks noChangeArrowheads="1"/>
          </p:cNvSpPr>
          <p:nvPr/>
        </p:nvSpPr>
        <p:spPr bwMode="auto">
          <a:xfrm>
            <a:off x="4285420" y="2633850"/>
            <a:ext cx="3798901" cy="581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ko-KR" sz="1700" b="1" baseline="-25000" dirty="0">
                <a:latin typeface="맑은 고딕" pitchFamily="50" charset="-127"/>
                <a:ea typeface="맑은 고딕" pitchFamily="50" charset="-127"/>
              </a:rPr>
              <a:t>2-1) 병합 설정 및 실행</a:t>
            </a:r>
            <a:r>
              <a:rPr lang="ko-KR" altLang="en-US" sz="1700" b="1" baseline="-25000" dirty="0">
                <a:latin typeface="맑은 고딕" pitchFamily="50" charset="-127"/>
                <a:ea typeface="맑은 고딕" pitchFamily="50" charset="-127"/>
              </a:rPr>
              <a:t/>
            </a:r>
            <a:r>
              <a:rPr lang="en-US" altLang="ko-KR" sz="1700" b="1" baseline="-25000" dirty="0">
                <a:latin typeface="맑은 고딕" pitchFamily="50" charset="-127"/>
                <a:ea typeface="맑은 고딕" pitchFamily="50" charset="-127"/>
              </a:rPr>
              <a:t/>
            </a:r>
          </a:p>
        </p:txBody>
      </p:sp>
      <p:sp>
        <p:nvSpPr>
          <p:cNvPr id="3079" name="Rectangle 35"/>
          <p:cNvSpPr>
            <a:spLocks noChangeArrowheads="1"/>
          </p:cNvSpPr>
          <p:nvPr/>
        </p:nvSpPr>
        <p:spPr bwMode="auto">
          <a:xfrm>
            <a:off x="4285420" y="3520818"/>
            <a:ext cx="3798901" cy="581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ko-KR" sz="1700" b="1" baseline="-25000" dirty="0">
                <a:latin typeface="맑은 고딕" pitchFamily="50" charset="-127"/>
                <a:ea typeface="맑은 고딕" pitchFamily="50" charset="-127"/>
              </a:rPr>
              <a:t>3-1) 수정 규칙 작성 및 실행</a:t>
            </a:r>
            <a:r>
              <a:rPr lang="ko-KR" altLang="en-US" sz="1700" b="1" baseline="-25000" dirty="0">
                <a:latin typeface="맑은 고딕" pitchFamily="50" charset="-127"/>
                <a:ea typeface="맑은 고딕" pitchFamily="50" charset="-127"/>
              </a:rPr>
              <a:t/>
            </a:r>
            <a:r>
              <a:rPr lang="en-US" altLang="ko-KR" sz="1700" b="1" baseline="-25000" dirty="0">
                <a:latin typeface="맑은 고딕" pitchFamily="50" charset="-127"/>
                <a:ea typeface="맑은 고딕" pitchFamily="50" charset="-127"/>
              </a:rPr>
              <a:t/>
            </a:r>
          </a:p>
        </p:txBody>
      </p:sp>
      <p:sp>
        <p:nvSpPr>
          <p:cNvPr id="3079" name="Rectangle 35"/>
          <p:cNvSpPr>
            <a:spLocks noChangeArrowheads="1"/>
          </p:cNvSpPr>
          <p:nvPr/>
        </p:nvSpPr>
        <p:spPr bwMode="auto">
          <a:xfrm>
            <a:off x="4285420" y="4407786"/>
            <a:ext cx="3798901" cy="581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ko-KR" sz="1700" b="1" baseline="-25000" dirty="0">
                <a:latin typeface="맑은 고딕" pitchFamily="50" charset="-127"/>
                <a:ea typeface="맑은 고딕" pitchFamily="50" charset="-127"/>
              </a:rPr>
              <a:t>4-1) 비교키 생성 설정</a:t>
            </a:r>
            <a:r>
              <a:rPr lang="ko-KR" altLang="en-US" sz="1700" b="1" baseline="-25000" dirty="0">
                <a:latin typeface="맑은 고딕" pitchFamily="50" charset="-127"/>
                <a:ea typeface="맑은 고딕" pitchFamily="50" charset="-127"/>
              </a:rPr>
              <a:t/>
            </a:r>
            <a:r>
              <a:rPr lang="en-US" altLang="ko-KR" sz="1700" b="1" baseline="-25000" dirty="0">
                <a:latin typeface="맑은 고딕" pitchFamily="50" charset="-127"/>
                <a:ea typeface="맑은 고딕" pitchFamily="50" charset="-127"/>
              </a:rPr>
              <a:t/>
            </a:r>
          </a:p>
          <a:p>
            <a:pPr eaLnBrk="1" hangingPunct="1">
              <a:lnSpc>
                <a:spcPct val="150000"/>
              </a:lnSpc>
            </a:pPr>
            <a:r>
              <a:rPr lang="en-US" altLang="ko-KR" sz="1700" b="1" baseline="-25000" dirty="0">
                <a:latin typeface="맑은 고딕" pitchFamily="50" charset="-127"/>
                <a:ea typeface="맑은 고딕" pitchFamily="50" charset="-127"/>
              </a:rPr>
              <a:t>4-2) Mapping Table</a:t>
            </a:r>
            <a:r>
              <a:rPr lang="ko-KR" altLang="en-US" sz="1700" b="1" baseline="-25000" dirty="0">
                <a:latin typeface="맑은 고딕" pitchFamily="50" charset="-127"/>
                <a:ea typeface="맑은 고딕" pitchFamily="50" charset="-127"/>
              </a:rPr>
              <a:t/>
            </a:r>
            <a:r>
              <a:rPr lang="en-US" altLang="ko-KR" sz="1700" b="1" baseline="-25000" dirty="0">
                <a:latin typeface="맑은 고딕" pitchFamily="50" charset="-127"/>
                <a:ea typeface="맑은 고딕" pitchFamily="50" charset="-127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74508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B1608-6E0F-2186-01A1-BF343B0A4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10">
            <a:extLst>
              <a:ext uri="{FF2B5EF4-FFF2-40B4-BE49-F238E27FC236}">
                <a16:creationId xmlns:a16="http://schemas.microsoft.com/office/drawing/2014/main" id="{03A1BFDD-BCF0-F7C9-2BD3-8513E52C2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376238"/>
            <a:ext cx="15113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/>
          <a:lstStyle>
            <a:lvl1pPr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ko-KR" altLang="en-US" sz="3200" b="1" dirty="0">
                <a:solidFill>
                  <a:srgbClr val="002040"/>
                </a:solidFill>
                <a:latin typeface="맑은 고딕" pitchFamily="50" charset="-127"/>
                <a:ea typeface="맑은 고딕" pitchFamily="50" charset="-127"/>
              </a:rPr>
              <a:t>목차</a:t>
            </a:r>
          </a:p>
        </p:txBody>
      </p:sp>
      <p:sp>
        <p:nvSpPr>
          <p:cNvPr id="3083" name="Rectangle 39">
            <a:extLst>
              <a:ext uri="{FF2B5EF4-FFF2-40B4-BE49-F238E27FC236}">
                <a16:creationId xmlns:a16="http://schemas.microsoft.com/office/drawing/2014/main" id="{DAE9B824-2573-3D3E-E18E-2A491171C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303" y="2380185"/>
            <a:ext cx="2844000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360000" indent="-360000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ko-KR" sz="1400" b="1" dirty="0">
                <a:solidFill>
                  <a:srgbClr val="002040"/>
                </a:solidFill>
                <a:latin typeface="맑은 고딕" pitchFamily="50" charset="-127"/>
                <a:ea typeface="맑은 고딕" pitchFamily="50" charset="-127"/>
              </a:rPr>
              <a:t>06 Temperature &amp; Painting</a:t>
            </a:r>
            <a:endParaRPr lang="ko-KR" altLang="en-US" sz="1400" b="1" dirty="0">
              <a:solidFill>
                <a:srgbClr val="00204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88" name="Line 44">
            <a:extLst>
              <a:ext uri="{FF2B5EF4-FFF2-40B4-BE49-F238E27FC236}">
                <a16:creationId xmlns:a16="http://schemas.microsoft.com/office/drawing/2014/main" id="{90034139-BAA1-73BD-6E84-026F06F5CC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4115" y="2356185"/>
            <a:ext cx="7652521" cy="0"/>
          </a:xfrm>
          <a:prstGeom prst="line">
            <a:avLst/>
          </a:prstGeom>
          <a:noFill/>
          <a:ln w="38100">
            <a:solidFill>
              <a:srgbClr val="00204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3092" name="Rectangle 50">
            <a:extLst>
              <a:ext uri="{FF2B5EF4-FFF2-40B4-BE49-F238E27FC236}">
                <a16:creationId xmlns:a16="http://schemas.microsoft.com/office/drawing/2014/main" id="{ACE445D6-97DA-6000-EF3A-32940D791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0"/>
            <a:ext cx="8277225" cy="287338"/>
          </a:xfrm>
          <a:prstGeom prst="rect">
            <a:avLst/>
          </a:prstGeom>
          <a:solidFill>
            <a:srgbClr val="0022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/>
            <a:endParaRPr lang="ko-KR" altLang="ko-KR" sz="1800" dirty="0"/>
          </a:p>
        </p:txBody>
      </p:sp>
      <p:sp>
        <p:nvSpPr>
          <p:cNvPr id="18" name="Rectangle 39">
            <a:extLst>
              <a:ext uri="{FF2B5EF4-FFF2-40B4-BE49-F238E27FC236}">
                <a16:creationId xmlns:a16="http://schemas.microsoft.com/office/drawing/2014/main" id="{CEB3154A-15D3-0D1C-E5C9-41E269927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303" y="4035249"/>
            <a:ext cx="2844000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360000" indent="-360000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ko-KR" sz="1400" b="1" dirty="0">
                <a:solidFill>
                  <a:srgbClr val="002040"/>
                </a:solidFill>
                <a:latin typeface="맑은 고딕" pitchFamily="50" charset="-127"/>
                <a:ea typeface="맑은 고딕" pitchFamily="50" charset="-127"/>
              </a:rPr>
              <a:t>07 File Split &amp; Export</a:t>
            </a:r>
            <a:endParaRPr lang="ko-KR" altLang="en-US" sz="1400" b="1" dirty="0">
              <a:solidFill>
                <a:srgbClr val="00204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Line 44">
            <a:extLst>
              <a:ext uri="{FF2B5EF4-FFF2-40B4-BE49-F238E27FC236}">
                <a16:creationId xmlns:a16="http://schemas.microsoft.com/office/drawing/2014/main" id="{AE4C2BAF-9F61-BB95-F46E-17E5312CC1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4115" y="4011249"/>
            <a:ext cx="7652521" cy="0"/>
          </a:xfrm>
          <a:prstGeom prst="line">
            <a:avLst/>
          </a:prstGeom>
          <a:noFill/>
          <a:ln w="38100">
            <a:solidFill>
              <a:srgbClr val="00204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Rectangle 39">
            <a:extLst>
              <a:ext uri="{FF2B5EF4-FFF2-40B4-BE49-F238E27FC236}">
                <a16:creationId xmlns:a16="http://schemas.microsoft.com/office/drawing/2014/main" id="{00014506-7299-D53B-CD14-725E77750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618" y="1154889"/>
            <a:ext cx="2844000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360000" indent="-360000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ko-KR" sz="1400" b="1" dirty="0">
                <a:solidFill>
                  <a:srgbClr val="002040"/>
                </a:solidFill>
                <a:latin typeface="맑은 고딕" pitchFamily="50" charset="-127"/>
                <a:ea typeface="맑은 고딕" pitchFamily="50" charset="-127"/>
              </a:rPr>
              <a:t>05 Display Format 매핑</a:t>
            </a:r>
            <a:r>
              <a:rPr lang="ko-KR" altLang="en-US" sz="1400" b="1" dirty="0">
                <a:solidFill>
                  <a:srgbClr val="002040"/>
                </a:solidFill>
                <a:latin typeface="맑은 고딕" pitchFamily="50" charset="-127"/>
                <a:ea typeface="맑은 고딕" pitchFamily="50" charset="-127"/>
              </a:rPr>
              <a:t/>
            </a:r>
          </a:p>
        </p:txBody>
      </p:sp>
      <p:sp>
        <p:nvSpPr>
          <p:cNvPr id="3" name="Line 44">
            <a:extLst>
              <a:ext uri="{FF2B5EF4-FFF2-40B4-BE49-F238E27FC236}">
                <a16:creationId xmlns:a16="http://schemas.microsoft.com/office/drawing/2014/main" id="{C8625F35-C189-B3DC-C1FE-AD59F23D1A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6430" y="1130889"/>
            <a:ext cx="7652521" cy="0"/>
          </a:xfrm>
          <a:prstGeom prst="line">
            <a:avLst/>
          </a:prstGeom>
          <a:noFill/>
          <a:ln w="38100">
            <a:solidFill>
              <a:srgbClr val="00204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Rectangle 35">
            <a:extLst>
              <a:ext uri="{FF2B5EF4-FFF2-40B4-BE49-F238E27FC236}">
                <a16:creationId xmlns:a16="http://schemas.microsoft.com/office/drawing/2014/main" id="{91AC8B3E-73E8-44C3-F657-AE1D2C41C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5420" y="1160889"/>
            <a:ext cx="3798901" cy="581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ko-KR" sz="1700" b="1" baseline="-25000" dirty="0">
                <a:latin typeface="맑은 고딕" pitchFamily="50" charset="-127"/>
                <a:ea typeface="맑은 고딕" pitchFamily="50" charset="-127"/>
              </a:rPr>
              <a:t>5-1) 열 매핑 설정</a:t>
            </a:r>
            <a:r>
              <a:rPr lang="ko-KR" altLang="en-US" sz="1700" b="1" baseline="-25000" dirty="0">
                <a:latin typeface="맑은 고딕" pitchFamily="50" charset="-127"/>
                <a:ea typeface="맑은 고딕" pitchFamily="50" charset="-127"/>
              </a:rPr>
              <a:t/>
            </a:r>
            <a:endParaRPr lang="en-US" altLang="ko-KR" sz="1700" b="1" baseline="-25000" dirty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ko-KR" sz="1700" b="1" baseline="-25000" dirty="0">
                <a:latin typeface="맑은 고딕" pitchFamily="50" charset="-127"/>
                <a:ea typeface="맑은 고딕" pitchFamily="50" charset="-127"/>
              </a:rPr>
              <a:t>5-2) 입력 방식</a:t>
            </a:r>
            <a:r>
              <a:rPr lang="ko-KR" altLang="en-US" sz="1700" b="1" baseline="-25000" dirty="0">
                <a:latin typeface="맑은 고딕" pitchFamily="50" charset="-127"/>
                <a:ea typeface="맑은 고딕" pitchFamily="50" charset="-127"/>
              </a:rPr>
              <a:t/>
            </a:r>
            <a:endParaRPr lang="en-US" altLang="ko-KR" sz="1700" b="1" baseline="-25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35">
            <a:extLst>
              <a:ext uri="{FF2B5EF4-FFF2-40B4-BE49-F238E27FC236}">
                <a16:creationId xmlns:a16="http://schemas.microsoft.com/office/drawing/2014/main" id="{91AC8B3E-73E8-44C3-F657-AE1D2C41C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5420" y="2386185"/>
            <a:ext cx="3798901" cy="581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ko-KR" sz="1700" b="1" baseline="-25000" dirty="0">
                <a:latin typeface="맑은 고딕" pitchFamily="50" charset="-127"/>
                <a:ea typeface="맑은 고딕" pitchFamily="50" charset="-127"/>
              </a:rPr>
              <a:t>6-1) 화면 구성</a:t>
            </a:r>
            <a:r>
              <a:rPr lang="ko-KR" altLang="en-US" sz="1700" b="1" baseline="-25000" dirty="0">
                <a:latin typeface="맑은 고딕" pitchFamily="50" charset="-127"/>
                <a:ea typeface="맑은 고딕" pitchFamily="50" charset="-127"/>
              </a:rPr>
              <a:t/>
            </a:r>
            <a:endParaRPr lang="en-US" altLang="ko-KR" sz="1700" b="1" baseline="-25000" dirty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ko-KR" sz="1700" b="1" baseline="-25000" dirty="0">
                <a:latin typeface="맑은 고딕" pitchFamily="50" charset="-127"/>
                <a:ea typeface="맑은 고딕" pitchFamily="50" charset="-127"/>
              </a:rPr>
              <a:t>6-2) 계산 방식</a:t>
            </a:r>
            <a:r>
              <a:rPr lang="ko-KR" altLang="en-US" sz="1700" b="1" baseline="-25000" dirty="0">
                <a:latin typeface="맑은 고딕" pitchFamily="50" charset="-127"/>
                <a:ea typeface="맑은 고딕" pitchFamily="50" charset="-127"/>
              </a:rPr>
              <a:t/>
            </a:r>
            <a:endParaRPr lang="en-US" altLang="ko-KR" sz="1700" b="1" baseline="-25000" dirty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ko-KR" sz="1700" b="1" baseline="-25000" dirty="0">
                <a:latin typeface="맑은 고딕" pitchFamily="50" charset="-127"/>
                <a:ea typeface="맑은 고딕" pitchFamily="50" charset="-127"/>
              </a:rPr>
              <a:t>6-3) 규칙 파일</a:t>
            </a:r>
            <a:r>
              <a:rPr lang="ko-KR" altLang="en-US" sz="1700" b="1" baseline="-25000" dirty="0">
                <a:latin typeface="맑은 고딕" pitchFamily="50" charset="-127"/>
                <a:ea typeface="맑은 고딕" pitchFamily="50" charset="-127"/>
              </a:rPr>
              <a:t/>
            </a:r>
            <a:endParaRPr lang="en-US" altLang="ko-KR" sz="1700" b="1" baseline="-25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35">
            <a:extLst>
              <a:ext uri="{FF2B5EF4-FFF2-40B4-BE49-F238E27FC236}">
                <a16:creationId xmlns:a16="http://schemas.microsoft.com/office/drawing/2014/main" id="{91AC8B3E-73E8-44C3-F657-AE1D2C41C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5420" y="4041249"/>
            <a:ext cx="3798901" cy="581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ko-KR" sz="1700" b="1" baseline="-25000" dirty="0">
                <a:latin typeface="맑은 고딕" pitchFamily="50" charset="-127"/>
                <a:ea typeface="맑은 고딕" pitchFamily="50" charset="-127"/>
              </a:rPr>
              <a:t>7-1) 파일 분할 저장</a:t>
            </a:r>
            <a:r>
              <a:rPr lang="ko-KR" altLang="en-US" sz="1700" b="1" baseline="-25000" dirty="0">
                <a:latin typeface="맑은 고딕" pitchFamily="50" charset="-127"/>
                <a:ea typeface="맑은 고딕" pitchFamily="50" charset="-127"/>
              </a:rPr>
              <a:t/>
            </a:r>
            <a:endParaRPr lang="en-US" altLang="ko-KR" sz="1700" b="1" baseline="-25000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2575590"/>
      </p:ext>
    </p:extLst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직사각형 5">
            <a:extLst>
              <a:ext uri="{FF2B5EF4-FFF2-40B4-BE49-F238E27FC236}">
                <a16:creationId xmlns:a16="http://schemas.microsoft.com/office/drawing/2014/main" id="{140FE816-CF1D-4BB5-DAC1-94EB7D8964EB}"/>
              </a:ext>
            </a:extLst>
          </p:cNvPr>
          <p:cNvSpPr/>
          <p:nvPr/>
        </p:nvSpPr>
        <p:spPr bwMode="auto">
          <a:xfrm>
            <a:off x="0" y="506085"/>
            <a:ext cx="9144000" cy="54006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endParaRPr lang="ko-KR" altLang="en-US" sz="12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9924F9-D99F-D50C-C4F6-47AD6A60C7D3}"/>
              </a:ext>
            </a:extLst>
          </p:cNvPr>
          <p:cNvSpPr txBox="1"/>
          <p:nvPr/>
        </p:nvSpPr>
        <p:spPr>
          <a:xfrm>
            <a:off x="2127494" y="506085"/>
            <a:ext cx="6568097" cy="54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endParaRPr lang="ko-KR" altLang="en-US" dirty="0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4A26C798-8DA7-3EEA-43BA-697536CD1372}"/>
              </a:ext>
            </a:extLst>
          </p:cNvPr>
          <p:cNvSpPr/>
          <p:nvPr/>
        </p:nvSpPr>
        <p:spPr bwMode="auto">
          <a:xfrm>
            <a:off x="438642" y="470115"/>
            <a:ext cx="1321035" cy="612000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실행 방법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/>
            </a:r>
            <a:endParaRPr lang="en-US" altLang="ko-KR" sz="1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BAB421-7724-94A6-59CE-8B5F3822B0A8}"/>
              </a:ext>
            </a:extLst>
          </p:cNvPr>
          <p:cNvSpPr txBox="1"/>
          <p:nvPr/>
        </p:nvSpPr>
        <p:spPr>
          <a:xfrm>
            <a:off x="1863726" y="506085"/>
            <a:ext cx="6889756" cy="54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kern="0" dirty="0"/>
              <a:t>EXE 실행 → 작업 폴더 자동 생성 → 왼쪽 메뉴 1~6번 순서대로 진행</a:t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endParaRPr lang="en-US" altLang="ko-KR" dirty="0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6B59F3E-BA50-F9FC-D40C-6CE8CBA9B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147" y="75022"/>
            <a:ext cx="5412877" cy="35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ko-KR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 |</a:t>
            </a:r>
            <a:r>
              <a:rPr lang="ko-KR" altLang="en-US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 개요</a:t>
            </a:r>
            <a:endParaRPr lang="ko-KR" altLang="en-US" sz="1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642" y="1170432"/>
            <a:ext cx="512064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프로그램 실행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① </a:t>
            </a:r>
            <a:r>
              <a:rPr sz="10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BM_DMCS_Tool_v8_13_Beta.exe를 작업 폴더에 복사 후 실행</a:t>
            </a:r>
          </a:p>
          <a:p>
            <a:pPr>
              <a:spcAft>
                <a:spcPts val="5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    Python 설치 불필요, EXE 파일 하나만 있으면 됨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② </a:t>
            </a:r>
            <a:r>
              <a:rPr sz="10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처음 실행 시 EXE와 같은 폴더에 작업 폴더 4개 자동 생성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③ </a:t>
            </a:r>
            <a:r>
              <a:rPr sz="10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왼쪽 메뉴 1~6번을 순서대로 진행</a:t>
            </a:r>
          </a:p>
          <a:p>
            <a:pPr>
              <a:spcAft>
                <a:spcPts val="5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    각 단계 결과 파일은 다음 단계 입력 파일로 자동 연결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④ </a:t>
            </a:r>
            <a:r>
              <a:rPr sz="10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진행 상태·진행률·로그는 왼쪽 하단 PROCESS STATUS / LOG에 표시</a:t>
            </a:r>
          </a:p>
          <a:p>
            <a:pPr>
              <a:spcAft>
                <a:spcPts val="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※ Windows SmartScreen 경고가 뜨면 「추가 정보 → 실행」 클릭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642" y="3685032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작업 폴더 구성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38642" y="4005072"/>
          <a:ext cx="5120639" cy="155448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331366"/>
                <a:gridCol w="3789273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폴더</a:t>
                      </a:r>
                    </a:p>
                  </a:txBody>
                  <a:tcPr marL="54864" marR="54864" marT="27432" marB="27432" anchor="ctr">
                    <a:solidFill>
                      <a:srgbClr val="002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용도</a:t>
                      </a:r>
                    </a:p>
                  </a:txBody>
                  <a:tcPr marL="54864" marR="54864" marT="27432" marB="27432" anchor="ctr">
                    <a:solidFill>
                      <a:srgbClr val="00204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2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02_test_input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병합할 Area별 3D BM 파일 (하위 폴더 포함)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2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03_reference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PCWBS, Line List, Painting Code Table,</a:t>
                      </a:r>
                    </a:p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규칙 파일(JSON / Excel), 예시 파일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2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04_output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단계별 결과 파일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2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05_logs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 보관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13" name="Picture 12" descr="side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5529" y="1170432"/>
            <a:ext cx="1036631" cy="4617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66809" y="1688747"/>
            <a:ext cx="1143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메뉴 1~6 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6809" y="3879808"/>
            <a:ext cx="1143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상태 / 로그 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642" y="6035040"/>
            <a:ext cx="827355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문의  </a:t>
            </a: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이경섭  02-369-5533  gyeongsub@dlenc.co.kr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직사각형 5">
            <a:extLst>
              <a:ext uri="{FF2B5EF4-FFF2-40B4-BE49-F238E27FC236}">
                <a16:creationId xmlns:a16="http://schemas.microsoft.com/office/drawing/2014/main" id="{140FE816-CF1D-4BB5-DAC1-94EB7D8964EB}"/>
              </a:ext>
            </a:extLst>
          </p:cNvPr>
          <p:cNvSpPr/>
          <p:nvPr/>
        </p:nvSpPr>
        <p:spPr bwMode="auto">
          <a:xfrm>
            <a:off x="0" y="506085"/>
            <a:ext cx="9144000" cy="54006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endParaRPr lang="ko-KR" altLang="en-US" sz="12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9924F9-D99F-D50C-C4F6-47AD6A60C7D3}"/>
              </a:ext>
            </a:extLst>
          </p:cNvPr>
          <p:cNvSpPr txBox="1"/>
          <p:nvPr/>
        </p:nvSpPr>
        <p:spPr>
          <a:xfrm>
            <a:off x="2127494" y="506085"/>
            <a:ext cx="6568097" cy="54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endParaRPr lang="ko-KR" altLang="en-US" dirty="0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4A26C798-8DA7-3EEA-43BA-697536CD1372}"/>
              </a:ext>
            </a:extLst>
          </p:cNvPr>
          <p:cNvSpPr/>
          <p:nvPr/>
        </p:nvSpPr>
        <p:spPr bwMode="auto">
          <a:xfrm>
            <a:off x="438642" y="470115"/>
            <a:ext cx="1321035" cy="612000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업무 Flow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/>
            </a:r>
            <a:endParaRPr lang="en-US" altLang="ko-KR" sz="1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BAB421-7724-94A6-59CE-8B5F3822B0A8}"/>
              </a:ext>
            </a:extLst>
          </p:cNvPr>
          <p:cNvSpPr txBox="1"/>
          <p:nvPr/>
        </p:nvSpPr>
        <p:spPr>
          <a:xfrm>
            <a:off x="1863726" y="506085"/>
            <a:ext cx="6889756" cy="54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kern="0" dirty="0"/>
              <a:t>6단계 순서로 진행, 각 단계 결과 파일은 다음 단계 입력으로 자동 연결</a:t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endParaRPr lang="en-US" altLang="ko-KR" dirty="0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6B59F3E-BA50-F9FC-D40C-6CE8CBA9B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147" y="75022"/>
            <a:ext cx="5412877" cy="35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ko-KR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 |</a:t>
            </a:r>
            <a:r>
              <a:rPr lang="ko-KR" altLang="en-US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 개요</a:t>
            </a:r>
            <a:endParaRPr lang="ko-KR" altLang="en-US" sz="1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30082" y="1335024"/>
            <a:ext cx="365760" cy="365760"/>
          </a:xfrm>
          <a:prstGeom prst="ellipse">
            <a:avLst/>
          </a:prstGeom>
          <a:solidFill>
            <a:srgbClr val="00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002" y="1216152"/>
            <a:ext cx="2103120" cy="6035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110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Excel 병합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562" y="1216152"/>
            <a:ext cx="246888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Area별 3D BM 파일을 하나로 통합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696442" y="1399032"/>
            <a:ext cx="320040" cy="237744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07922" y="1289304"/>
            <a:ext cx="2604278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BM_Merged_Step1.xlsx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39810" y="1728216"/>
            <a:ext cx="146304" cy="228600"/>
          </a:xfrm>
          <a:prstGeom prst="down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0082" y="2057400"/>
            <a:ext cx="365760" cy="365760"/>
          </a:xfrm>
          <a:prstGeom prst="ellipse">
            <a:avLst/>
          </a:prstGeom>
          <a:solidFill>
            <a:srgbClr val="00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002" y="1938528"/>
            <a:ext cx="2103120" cy="6035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110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병합 파일 수정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7562" y="1938528"/>
            <a:ext cx="246888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불필요 행 삭제 · 값 변경 · 정렬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696442" y="2121408"/>
            <a:ext cx="320040" cy="237744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7922" y="2011680"/>
            <a:ext cx="2604278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BM_Modified_Result.xlsx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639810" y="2450592"/>
            <a:ext cx="146304" cy="228600"/>
          </a:xfrm>
          <a:prstGeom prst="down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0082" y="2779776"/>
            <a:ext cx="365760" cy="365760"/>
          </a:xfrm>
          <a:prstGeom prst="ellipse">
            <a:avLst/>
          </a:prstGeom>
          <a:solidFill>
            <a:srgbClr val="00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002" y="2660904"/>
            <a:ext cx="2103120" cy="6035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110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PCWBS 비교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27562" y="2660904"/>
            <a:ext cx="246888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PCWBS 기준과 3D BM 키 일치 여부 확인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696442" y="2843784"/>
            <a:ext cx="320040" cy="237744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07922" y="2734056"/>
            <a:ext cx="2604278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PCWBS_Check_Result.xlsx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639810" y="3172968"/>
            <a:ext cx="146304" cy="228600"/>
          </a:xfrm>
          <a:prstGeom prst="down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082" y="3502152"/>
            <a:ext cx="365760" cy="365760"/>
          </a:xfrm>
          <a:prstGeom prst="ellipse">
            <a:avLst/>
          </a:prstGeom>
          <a:solidFill>
            <a:srgbClr val="00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3002" y="3383280"/>
            <a:ext cx="2103120" cy="6035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110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Display Format 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27562" y="3383280"/>
            <a:ext cx="246888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A~AS 45개 열 형식으로 변환, Category 매핑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696442" y="3566160"/>
            <a:ext cx="320040" cy="237744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07922" y="3456432"/>
            <a:ext cx="2604278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Display_Format_Base.xlsx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639810" y="3895344"/>
            <a:ext cx="146304" cy="228600"/>
          </a:xfrm>
          <a:prstGeom prst="down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30082" y="4224528"/>
            <a:ext cx="365760" cy="365760"/>
          </a:xfrm>
          <a:prstGeom prst="ellipse">
            <a:avLst/>
          </a:prstGeom>
          <a:solidFill>
            <a:srgbClr val="00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33002" y="4105656"/>
            <a:ext cx="2103120" cy="6035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110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Temperature &amp; Painting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27562" y="4105656"/>
            <a:ext cx="246888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Insulation Temp · Paint Symbol 입력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5696442" y="4288536"/>
            <a:ext cx="320040" cy="237744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07922" y="4178808"/>
            <a:ext cx="2604278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Display_Format_TempPaint.xlsx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639810" y="4617720"/>
            <a:ext cx="146304" cy="228600"/>
          </a:xfrm>
          <a:prstGeom prst="down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0082" y="4946904"/>
            <a:ext cx="365760" cy="365760"/>
          </a:xfrm>
          <a:prstGeom prst="ellipse">
            <a:avLst/>
          </a:prstGeom>
          <a:solidFill>
            <a:srgbClr val="00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33002" y="4828032"/>
            <a:ext cx="2103120" cy="6035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110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File Split &amp; Export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27562" y="4828032"/>
            <a:ext cx="246888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기준 행 수로 최종 파일 분할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696442" y="5010912"/>
            <a:ext cx="320040" cy="237744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07922" y="4901184"/>
            <a:ext cx="2604278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Final_Export\Display_Format_01.xlsx 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642" y="5623560"/>
            <a:ext cx="8273558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준비 파일  </a:t>
            </a: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Area별 3D BM(.xlsx) · PCWBS 기준 파일 · Line List · Painting Code Table (또는 Paint 규칙 파일)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결과 위치  </a:t>
            </a: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모든 결과 파일은 04_output 폴더에 저장 (저장 위치는 각 화면에서 변경 가능)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직사각형 5">
            <a:extLst>
              <a:ext uri="{FF2B5EF4-FFF2-40B4-BE49-F238E27FC236}">
                <a16:creationId xmlns:a16="http://schemas.microsoft.com/office/drawing/2014/main" id="{140FE816-CF1D-4BB5-DAC1-94EB7D8964EB}"/>
              </a:ext>
            </a:extLst>
          </p:cNvPr>
          <p:cNvSpPr/>
          <p:nvPr/>
        </p:nvSpPr>
        <p:spPr bwMode="auto">
          <a:xfrm>
            <a:off x="0" y="506085"/>
            <a:ext cx="9144000" cy="54006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endParaRPr lang="ko-KR" altLang="en-US" sz="12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9924F9-D99F-D50C-C4F6-47AD6A60C7D3}"/>
              </a:ext>
            </a:extLst>
          </p:cNvPr>
          <p:cNvSpPr txBox="1"/>
          <p:nvPr/>
        </p:nvSpPr>
        <p:spPr>
          <a:xfrm>
            <a:off x="2127494" y="506085"/>
            <a:ext cx="6568097" cy="54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endParaRPr lang="ko-KR" altLang="en-US" dirty="0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4A26C798-8DA7-3EEA-43BA-697536CD1372}"/>
              </a:ext>
            </a:extLst>
          </p:cNvPr>
          <p:cNvSpPr/>
          <p:nvPr/>
        </p:nvSpPr>
        <p:spPr bwMode="auto">
          <a:xfrm>
            <a:off x="438642" y="470115"/>
            <a:ext cx="1321035" cy="612000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병합 설정 및 실행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/>
            </a:r>
            <a:endParaRPr lang="en-US" altLang="ko-KR" sz="1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BAB421-7724-94A6-59CE-8B5F3822B0A8}"/>
              </a:ext>
            </a:extLst>
          </p:cNvPr>
          <p:cNvSpPr txBox="1"/>
          <p:nvPr/>
        </p:nvSpPr>
        <p:spPr>
          <a:xfrm>
            <a:off x="1863726" y="506085"/>
            <a:ext cx="6889756" cy="54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kern="0" dirty="0"/>
              <a:t>여러 Area BM 파일을 하나의 Merged_Data 시트로 통합합니다</a:t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endParaRPr lang="en-US" altLang="ko-KR" dirty="0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6B59F3E-BA50-F9FC-D40C-6CE8CBA9B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147" y="75022"/>
            <a:ext cx="5412877" cy="35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ko-KR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 |</a:t>
            </a:r>
            <a:r>
              <a:rPr lang="ko-KR" altLang="en-US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Excel 병합</a:t>
            </a:r>
            <a:endParaRPr lang="ko-KR" altLang="en-US" sz="1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Picture 9" descr="me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42" y="1170432"/>
            <a:ext cx="5394960" cy="347832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1290477" y="1489870"/>
            <a:ext cx="4465039" cy="631778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3421" y="1422814"/>
            <a:ext cx="201168" cy="20116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0477" y="2157141"/>
            <a:ext cx="4465039" cy="141972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23421" y="2090085"/>
            <a:ext cx="201168" cy="20116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90477" y="2316861"/>
            <a:ext cx="4465039" cy="2275111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23421" y="2249805"/>
            <a:ext cx="201168" cy="20116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6482" y="1143000"/>
            <a:ext cx="2695718" cy="4206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1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① </a:t>
            </a:r>
            <a:r>
              <a:rPr sz="105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병합 설정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입력 폴더(Area BM 폴더), 결과 저장 폴더·파일명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제외 폴더명: 쉼표로 구분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헤더 행: 0 = 자동 탐지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시트명 키워드: 빈칸 = 전체 시트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② </a:t>
            </a:r>
            <a:r>
              <a:rPr sz="105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미리보기 / 실행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「파일 미리보기」로 대상 확인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「병합 실행」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③ </a:t>
            </a:r>
            <a:r>
              <a:rPr sz="105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병합 대상 파일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미리보기 결과 목록 (하위 폴더 포함)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642" y="4965192"/>
            <a:ext cx="960120" cy="384048"/>
          </a:xfrm>
          <a:prstGeom prst="roundRect">
            <a:avLst/>
          </a:prstGeom>
          <a:solidFill>
            <a:srgbClr val="00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 파일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2770" y="4965192"/>
            <a:ext cx="724943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8288" tIns="0" bIns="0" wrap="square"/>
          <a:lstStyle/>
          <a:p>
            <a:pPr algn="l"/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BM_Merged_Step1.xlsx  –  Merged_Data(Source File·Sheet·Area 열 추가), Summary, Validation, Run_Info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직사각형 5">
            <a:extLst>
              <a:ext uri="{FF2B5EF4-FFF2-40B4-BE49-F238E27FC236}">
                <a16:creationId xmlns:a16="http://schemas.microsoft.com/office/drawing/2014/main" id="{140FE816-CF1D-4BB5-DAC1-94EB7D8964EB}"/>
              </a:ext>
            </a:extLst>
          </p:cNvPr>
          <p:cNvSpPr/>
          <p:nvPr/>
        </p:nvSpPr>
        <p:spPr bwMode="auto">
          <a:xfrm>
            <a:off x="0" y="506085"/>
            <a:ext cx="9144000" cy="54006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endParaRPr lang="ko-KR" altLang="en-US" sz="12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9924F9-D99F-D50C-C4F6-47AD6A60C7D3}"/>
              </a:ext>
            </a:extLst>
          </p:cNvPr>
          <p:cNvSpPr txBox="1"/>
          <p:nvPr/>
        </p:nvSpPr>
        <p:spPr>
          <a:xfrm>
            <a:off x="2127494" y="506085"/>
            <a:ext cx="6568097" cy="54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endParaRPr lang="ko-KR" altLang="en-US" dirty="0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4A26C798-8DA7-3EEA-43BA-697536CD1372}"/>
              </a:ext>
            </a:extLst>
          </p:cNvPr>
          <p:cNvSpPr/>
          <p:nvPr/>
        </p:nvSpPr>
        <p:spPr bwMode="auto">
          <a:xfrm>
            <a:off x="438642" y="470115"/>
            <a:ext cx="1321035" cy="612000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수정 규칙 작성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/>
            </a:r>
            <a:endParaRPr lang="en-US" altLang="ko-KR" sz="1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BAB421-7724-94A6-59CE-8B5F3822B0A8}"/>
              </a:ext>
            </a:extLst>
          </p:cNvPr>
          <p:cNvSpPr txBox="1"/>
          <p:nvPr/>
        </p:nvSpPr>
        <p:spPr>
          <a:xfrm>
            <a:off x="1863726" y="506085"/>
            <a:ext cx="6889756" cy="54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kern="0" dirty="0"/>
              <a:t>삭제 · 값 변경 · 정렬 규칙을 위에서 아래 순서대로 적용합니다</a:t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endParaRPr lang="en-US" altLang="ko-KR" dirty="0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6B59F3E-BA50-F9FC-D40C-6CE8CBA9B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147" y="75022"/>
            <a:ext cx="5412877" cy="35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ko-KR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 |</a:t>
            </a:r>
            <a:r>
              <a:rPr lang="ko-KR" altLang="en-US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병합 파일 수정</a:t>
            </a:r>
            <a:endParaRPr lang="ko-KR" altLang="en-US" sz="1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Picture 9" descr="clean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42" y="1170432"/>
            <a:ext cx="5394960" cy="347832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1290477" y="1489870"/>
            <a:ext cx="4465039" cy="433016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3421" y="1422814"/>
            <a:ext cx="201168" cy="20116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0477" y="1958380"/>
            <a:ext cx="4465039" cy="599834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23421" y="1891324"/>
            <a:ext cx="201168" cy="20116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90477" y="2593707"/>
            <a:ext cx="4465039" cy="88732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23421" y="2526651"/>
            <a:ext cx="201168" cy="20116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90477" y="2717933"/>
            <a:ext cx="4465039" cy="1696572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23421" y="2650877"/>
            <a:ext cx="201168" cy="20116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90477" y="4449999"/>
            <a:ext cx="4465039" cy="141972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23421" y="4382943"/>
            <a:ext cx="201168" cy="20116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482" y="1143000"/>
            <a:ext cx="2695718" cy="4206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1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① </a:t>
            </a:r>
            <a:r>
              <a:rPr sz="105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수정 대상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병합 파일 / 결과 파일 지정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시트 선택 후 「열 불러오기」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② </a:t>
            </a:r>
            <a:r>
              <a:rPr sz="105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규칙 작성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동작: 행 삭제, 값 변경, 검토 대상 복사, 오름/내림차순 정렬, 완전 빈 행 삭제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두 번째 조건(AND/OR), 예외 조건 사용 가능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③ </a:t>
            </a:r>
            <a:r>
              <a:rPr sz="105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규칙 관리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추가 · 수정 · 삭제 · 순서 변경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규칙 저장 / 불러오기 (JSON)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④ </a:t>
            </a:r>
            <a:r>
              <a:rPr sz="105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적용 규칙 목록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위에서 아래 순서로 실행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⑤ </a:t>
            </a:r>
            <a:r>
              <a:rPr sz="105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「적용 건수 미리보기」로 확인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「수정 실행 및 저장」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642" y="4965192"/>
            <a:ext cx="960120" cy="384048"/>
          </a:xfrm>
          <a:prstGeom prst="roundRect">
            <a:avLst/>
          </a:prstGeom>
          <a:solidFill>
            <a:srgbClr val="00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 파일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62770" y="4965192"/>
            <a:ext cx="724943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8288" tIns="0" bIns="0" wrap="square"/>
          <a:lstStyle/>
          <a:p>
            <a:pPr algn="l"/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BM_Modified_Result.xlsx  –  Final_Data, Deleted_Rows, Modified_Rows, Review_Items, Rule_Summary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직사각형 5">
            <a:extLst>
              <a:ext uri="{FF2B5EF4-FFF2-40B4-BE49-F238E27FC236}">
                <a16:creationId xmlns:a16="http://schemas.microsoft.com/office/drawing/2014/main" id="{140FE816-CF1D-4BB5-DAC1-94EB7D8964EB}"/>
              </a:ext>
            </a:extLst>
          </p:cNvPr>
          <p:cNvSpPr/>
          <p:nvPr/>
        </p:nvSpPr>
        <p:spPr bwMode="auto">
          <a:xfrm>
            <a:off x="0" y="506085"/>
            <a:ext cx="9144000" cy="54006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endParaRPr lang="ko-KR" altLang="en-US" sz="12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9924F9-D99F-D50C-C4F6-47AD6A60C7D3}"/>
              </a:ext>
            </a:extLst>
          </p:cNvPr>
          <p:cNvSpPr txBox="1"/>
          <p:nvPr/>
        </p:nvSpPr>
        <p:spPr>
          <a:xfrm>
            <a:off x="2127494" y="506085"/>
            <a:ext cx="6568097" cy="54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endParaRPr lang="ko-KR" altLang="en-US" dirty="0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4A26C798-8DA7-3EEA-43BA-697536CD1372}"/>
              </a:ext>
            </a:extLst>
          </p:cNvPr>
          <p:cNvSpPr/>
          <p:nvPr/>
        </p:nvSpPr>
        <p:spPr bwMode="auto">
          <a:xfrm>
            <a:off x="438642" y="470115"/>
            <a:ext cx="1321035" cy="612000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비교키 생성 설정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/>
            </a:r>
            <a:endParaRPr lang="en-US" altLang="ko-KR" sz="1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BAB421-7724-94A6-59CE-8B5F3822B0A8}"/>
              </a:ext>
            </a:extLst>
          </p:cNvPr>
          <p:cNvSpPr txBox="1"/>
          <p:nvPr/>
        </p:nvSpPr>
        <p:spPr>
          <a:xfrm>
            <a:off x="1863726" y="506085"/>
            <a:ext cx="6889756" cy="54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kern="0" dirty="0"/>
              <a:t>PCWBS 조합키와 3D BM 비교키로 PCWBS 행별 일치 여부를 확인합니다</a:t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endParaRPr lang="en-US" altLang="ko-KR" dirty="0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6B59F3E-BA50-F9FC-D40C-6CE8CBA9B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147" y="75022"/>
            <a:ext cx="5412877" cy="35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ko-KR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 |</a:t>
            </a:r>
            <a:r>
              <a:rPr lang="ko-KR" altLang="en-US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PCWBS 비교</a:t>
            </a:r>
            <a:endParaRPr lang="ko-KR" altLang="en-US" sz="1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Picture 9" descr="pcw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42" y="1170432"/>
            <a:ext cx="5394960" cy="347832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1290477" y="1489870"/>
            <a:ext cx="4465039" cy="610482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3421" y="1422814"/>
            <a:ext cx="201168" cy="20116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0477" y="2135845"/>
            <a:ext cx="4465039" cy="177465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23421" y="2068789"/>
            <a:ext cx="201168" cy="20116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2421" y="2906047"/>
            <a:ext cx="2101194" cy="1242260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55365" y="2838991"/>
            <a:ext cx="201168" cy="20116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9109" y="2906047"/>
            <a:ext cx="2264463" cy="1242260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392053" y="2838991"/>
            <a:ext cx="201168" cy="20116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90477" y="4460647"/>
            <a:ext cx="4465039" cy="138423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23421" y="4393591"/>
            <a:ext cx="201168" cy="20116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482" y="1143000"/>
            <a:ext cx="2695718" cy="4206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1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① </a:t>
            </a:r>
            <a:r>
              <a:rPr sz="105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비교 파일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3D BM(2번 결과 자동 연결) · PCWBS 기준 파일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각각 「열 불러오기」 실행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② </a:t>
            </a:r>
            <a:r>
              <a:rPr sz="105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비교 방식 선택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비교키 생성 설정 / Mapping Table 중 선택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4번 Category 매핑에도 동일 적용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③ </a:t>
            </a:r>
            <a:r>
              <a:rPr sz="105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PCWBS 조합키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사용할 열을 위에서 아래 순서로 조합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추출 방식(원문·괄호 안·숫자), 숫자 자릿수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예) Category5(2자리) + Category4(괄호 안) → 04-4300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④ </a:t>
            </a:r>
            <a:r>
              <a:rPr sz="105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3D BM 비교키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열 조합 / MID 텍스트 추출 / 두 방식 교차검증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⑤ </a:t>
            </a:r>
            <a:r>
              <a:rPr sz="105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「미리보기」로 일치 건수 확인 → 「실행 및 저장」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642" y="4965192"/>
            <a:ext cx="960120" cy="384048"/>
          </a:xfrm>
          <a:prstGeom prst="roundRect">
            <a:avLst/>
          </a:prstGeom>
          <a:solidFill>
            <a:srgbClr val="00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 파일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62770" y="4965192"/>
            <a:ext cx="724943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8288" tIns="0" bIns="0" wrap="square"/>
          <a:lstStyle/>
          <a:p>
            <a:pPr algn="l"/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PCWBS_Check_Result.xlsx  –  PCWBS 행별 일치/불일치, Key_Issues(키 생성 실패 · 중복)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직사각형 5">
            <a:extLst>
              <a:ext uri="{FF2B5EF4-FFF2-40B4-BE49-F238E27FC236}">
                <a16:creationId xmlns:a16="http://schemas.microsoft.com/office/drawing/2014/main" id="{140FE816-CF1D-4BB5-DAC1-94EB7D8964EB}"/>
              </a:ext>
            </a:extLst>
          </p:cNvPr>
          <p:cNvSpPr/>
          <p:nvPr/>
        </p:nvSpPr>
        <p:spPr bwMode="auto">
          <a:xfrm>
            <a:off x="0" y="506085"/>
            <a:ext cx="9144000" cy="54006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endParaRPr lang="ko-KR" altLang="en-US" sz="12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9924F9-D99F-D50C-C4F6-47AD6A60C7D3}"/>
              </a:ext>
            </a:extLst>
          </p:cNvPr>
          <p:cNvSpPr txBox="1"/>
          <p:nvPr/>
        </p:nvSpPr>
        <p:spPr>
          <a:xfrm>
            <a:off x="2127494" y="506085"/>
            <a:ext cx="6568097" cy="54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endParaRPr lang="ko-KR" altLang="en-US" dirty="0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4A26C798-8DA7-3EEA-43BA-697536CD1372}"/>
              </a:ext>
            </a:extLst>
          </p:cNvPr>
          <p:cNvSpPr/>
          <p:nvPr/>
        </p:nvSpPr>
        <p:spPr bwMode="auto">
          <a:xfrm>
            <a:off x="438642" y="470115"/>
            <a:ext cx="1321035" cy="612000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Mapping Table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/>
            </a:r>
            <a:endParaRPr lang="en-US" altLang="ko-KR" sz="1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BAB421-7724-94A6-59CE-8B5F3822B0A8}"/>
              </a:ext>
            </a:extLst>
          </p:cNvPr>
          <p:cNvSpPr txBox="1"/>
          <p:nvPr/>
        </p:nvSpPr>
        <p:spPr>
          <a:xfrm>
            <a:off x="1863726" y="506085"/>
            <a:ext cx="6889756" cy="54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kern="0" dirty="0"/>
              <a:t>열 값이 1:1로 대응되지 않을 때, 조합 값을 표로 직접 연결합니다</a:t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endParaRPr lang="en-US" altLang="ko-KR" dirty="0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6B59F3E-BA50-F9FC-D40C-6CE8CBA9B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147" y="75022"/>
            <a:ext cx="5412877" cy="35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ko-KR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 |</a:t>
            </a:r>
            <a:r>
              <a:rPr lang="ko-KR" altLang="en-US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PCWBS 비교</a:t>
            </a:r>
            <a:endParaRPr lang="ko-KR" altLang="en-US" sz="1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Picture 9" descr="pcwb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42" y="1170432"/>
            <a:ext cx="8273558" cy="1267828"/>
          </a:xfrm>
          <a:prstGeom prst="rect">
            <a:avLst/>
          </a:prstGeom>
          <a:ln>
            <a:solidFill>
              <a:srgbClr val="BFBFB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38642" y="266686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Mapping Table 작성 예시 (Excel)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38642" y="2986900"/>
          <a:ext cx="3566159" cy="13716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517514"/>
                <a:gridCol w="2048645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  (3D BM 열 조합)</a:t>
                      </a:r>
                    </a:p>
                  </a:txBody>
                  <a:tcPr marL="54864" marR="54864" marT="27432" marB="27432" anchor="ctr">
                    <a:solidFill>
                      <a:srgbClr val="002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  (PCWBS 열 조합)</a:t>
                      </a:r>
                    </a:p>
                  </a:txBody>
                  <a:tcPr marL="54864" marR="54864" marT="27432" marB="27432" anchor="ctr">
                    <a:solidFill>
                      <a:srgbClr val="00204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SUBTITLE-CIA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Category5-Category4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04-4300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04-Common (4300)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79-4300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79-Common (4300)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04-4310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04-PE(Swing) (4310)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233402" y="2666860"/>
            <a:ext cx="4478798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작성 규칙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1행(헤더)  </a:t>
            </a: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 = 3D BM 열 조합, B = PCWBS 열 조합
열 이름을 '조합 구분자'로 연결 (2개 이상 가능)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2행부터  </a:t>
            </a: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 = 3D BM 조합 값, B = 해당 PCWBS 조합 값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값 입력  </a:t>
            </a: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파일에 들어 있는 모양 그대로 (04와 4는 다른 값)
대소문자 · 앞뒤 공백만 무시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기타  </a:t>
            </a: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같은 A값을 여러 행에 쓰면 여러 PCWBS 값에 연결
표에 없는 값은 Key_Issues에 기록</a:t>
            </a:r>
          </a:p>
          <a:p>
            <a:pPr>
              <a:spcAft>
                <a:spcPts val="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※ 「Mapping Table 예시」 버튼으로 예시 Excel 생성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직사각형 5">
            <a:extLst>
              <a:ext uri="{FF2B5EF4-FFF2-40B4-BE49-F238E27FC236}">
                <a16:creationId xmlns:a16="http://schemas.microsoft.com/office/drawing/2014/main" id="{140FE816-CF1D-4BB5-DAC1-94EB7D8964EB}"/>
              </a:ext>
            </a:extLst>
          </p:cNvPr>
          <p:cNvSpPr/>
          <p:nvPr/>
        </p:nvSpPr>
        <p:spPr bwMode="auto">
          <a:xfrm>
            <a:off x="0" y="506085"/>
            <a:ext cx="9144000" cy="54006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endParaRPr lang="ko-KR" altLang="en-US" sz="12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9924F9-D99F-D50C-C4F6-47AD6A60C7D3}"/>
              </a:ext>
            </a:extLst>
          </p:cNvPr>
          <p:cNvSpPr txBox="1"/>
          <p:nvPr/>
        </p:nvSpPr>
        <p:spPr>
          <a:xfrm>
            <a:off x="2127494" y="506085"/>
            <a:ext cx="6568097" cy="54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endParaRPr lang="ko-KR" altLang="en-US" dirty="0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4A26C798-8DA7-3EEA-43BA-697536CD1372}"/>
              </a:ext>
            </a:extLst>
          </p:cNvPr>
          <p:cNvSpPr/>
          <p:nvPr/>
        </p:nvSpPr>
        <p:spPr bwMode="auto">
          <a:xfrm>
            <a:off x="438642" y="470115"/>
            <a:ext cx="1321035" cy="612000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열 매핑 설정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/>
            </a:r>
            <a:endParaRPr lang="en-US" altLang="ko-KR" sz="1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BAB421-7724-94A6-59CE-8B5F3822B0A8}"/>
              </a:ext>
            </a:extLst>
          </p:cNvPr>
          <p:cNvSpPr txBox="1"/>
          <p:nvPr/>
        </p:nvSpPr>
        <p:spPr>
          <a:xfrm>
            <a:off x="1863726" y="506085"/>
            <a:ext cx="6889756" cy="54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kern="0" dirty="0"/>
              <a:t>3D BM을 Display Format(A~AS, 45개 열)으로 변환합니다</a:t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endParaRPr lang="en-US" altLang="ko-KR" dirty="0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6B59F3E-BA50-F9FC-D40C-6CE8CBA9B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147" y="75022"/>
            <a:ext cx="5412877" cy="35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ko-KR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 |</a:t>
            </a:r>
            <a:r>
              <a:rPr lang="ko-KR" altLang="en-US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Display Format 매핑</a:t>
            </a:r>
            <a:endParaRPr lang="ko-KR" altLang="en-US" sz="1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Picture 9" descr="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42" y="1170432"/>
            <a:ext cx="5394960" cy="347832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1290477" y="1489870"/>
            <a:ext cx="4465039" cy="418819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3421" y="1422814"/>
            <a:ext cx="201168" cy="20116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0477" y="2221029"/>
            <a:ext cx="4465039" cy="528848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23421" y="2153973"/>
            <a:ext cx="201168" cy="20116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90477" y="2781821"/>
            <a:ext cx="3165989" cy="1157076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23421" y="2714765"/>
            <a:ext cx="201168" cy="20116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4862" y="2781821"/>
            <a:ext cx="1270655" cy="1157076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17806" y="2714765"/>
            <a:ext cx="201168" cy="20116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90477" y="3960194"/>
            <a:ext cx="4465039" cy="532397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23421" y="3893138"/>
            <a:ext cx="201168" cy="20116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90477" y="4513887"/>
            <a:ext cx="4465039" cy="88732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23421" y="4446831"/>
            <a:ext cx="201168" cy="20116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6482" y="1143000"/>
            <a:ext cx="2695718" cy="4206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1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① </a:t>
            </a:r>
            <a:r>
              <a:rPr sz="105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입력 / 결과 파일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「3D BM 열 불러오기」 시 헤더명 자동 매핑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② </a:t>
            </a:r>
            <a:r>
              <a:rPr sz="105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기본 설정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Part · Unit Size 기본값, CD_SITE, Times, Mtrl Group, FileName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Main = Sub이면 Sub 빈칸, 단위 제거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③ </a:t>
            </a:r>
            <a:r>
              <a:rPr sz="105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A~AS 열 매핑 목록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수정할 행을 클릭하여 선택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④ </a:t>
            </a:r>
            <a:r>
              <a:rPr sz="105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Part 조건 규칙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위에서부터 처음 일치한 Part 적용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⑤ </a:t>
            </a:r>
            <a:r>
              <a:rPr sz="105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선택 행 매핑 설정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입력 방식 · 값 지정 → 「선택 매핑 적용」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선택한 방식의 설명이 아래에 표시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⑥ </a:t>
            </a:r>
            <a:r>
              <a:rPr sz="105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저장 / 실행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매핑 저장 · 불러오기 (JSON)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「변환 미리보기」 → 「Display Format 생성」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642" y="4965192"/>
            <a:ext cx="960120" cy="384048"/>
          </a:xfrm>
          <a:prstGeom prst="roundRect">
            <a:avLst/>
          </a:prstGeom>
          <a:solidFill>
            <a:srgbClr val="00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 파일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2770" y="4965192"/>
            <a:ext cx="724943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8288" tIns="0" bIns="0" wrap="square"/>
          <a:lstStyle/>
          <a:p>
            <a:pPr algn="l"/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Display_Format_Base.xlsx  –  Display_Format, PCWBS_Mapping_Issues, PCWBS_Reference_Issues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직사각형 5">
            <a:extLst>
              <a:ext uri="{FF2B5EF4-FFF2-40B4-BE49-F238E27FC236}">
                <a16:creationId xmlns:a16="http://schemas.microsoft.com/office/drawing/2014/main" id="{140FE816-CF1D-4BB5-DAC1-94EB7D8964EB}"/>
              </a:ext>
            </a:extLst>
          </p:cNvPr>
          <p:cNvSpPr/>
          <p:nvPr/>
        </p:nvSpPr>
        <p:spPr bwMode="auto">
          <a:xfrm>
            <a:off x="0" y="506085"/>
            <a:ext cx="9144000" cy="54006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endParaRPr lang="ko-KR" altLang="en-US" sz="12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9924F9-D99F-D50C-C4F6-47AD6A60C7D3}"/>
              </a:ext>
            </a:extLst>
          </p:cNvPr>
          <p:cNvSpPr txBox="1"/>
          <p:nvPr/>
        </p:nvSpPr>
        <p:spPr>
          <a:xfrm>
            <a:off x="2127494" y="506085"/>
            <a:ext cx="6568097" cy="54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endParaRPr lang="ko-KR" altLang="en-US" dirty="0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4A26C798-8DA7-3EEA-43BA-697536CD1372}"/>
              </a:ext>
            </a:extLst>
          </p:cNvPr>
          <p:cNvSpPr/>
          <p:nvPr/>
        </p:nvSpPr>
        <p:spPr bwMode="auto">
          <a:xfrm>
            <a:off x="438642" y="470115"/>
            <a:ext cx="1321035" cy="612000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입력 방식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/>
            </a:r>
            <a:endParaRPr lang="en-US" altLang="ko-KR" sz="1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BAB421-7724-94A6-59CE-8B5F3822B0A8}"/>
              </a:ext>
            </a:extLst>
          </p:cNvPr>
          <p:cNvSpPr txBox="1"/>
          <p:nvPr/>
        </p:nvSpPr>
        <p:spPr>
          <a:xfrm>
            <a:off x="1863726" y="506085"/>
            <a:ext cx="6889756" cy="54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kern="0" dirty="0"/>
              <a:t>Display Format 열마다 값을 가져오는 방식을 지정합니다</a:t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endParaRPr lang="en-US" altLang="ko-KR" dirty="0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6B59F3E-BA50-F9FC-D40C-6CE8CBA9B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147" y="75022"/>
            <a:ext cx="5412877" cy="35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ko-KR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 |</a:t>
            </a:r>
            <a:r>
              <a:rPr lang="ko-KR" altLang="en-US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Display Format 매핑</a:t>
            </a:r>
            <a:endParaRPr lang="ko-KR" altLang="en-US" sz="1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8642" y="1170432"/>
          <a:ext cx="8273556" cy="352044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489240"/>
                <a:gridCol w="5074448"/>
                <a:gridCol w="1709868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 방식</a:t>
                      </a:r>
                    </a:p>
                  </a:txBody>
                  <a:tcPr marL="54864" marR="54864" marT="27432" marB="27432" anchor="ctr">
                    <a:solidFill>
                      <a:srgbClr val="002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설명</a:t>
                      </a:r>
                    </a:p>
                  </a:txBody>
                  <a:tcPr marL="54864" marR="54864" marT="27432" marB="27432" anchor="ctr">
                    <a:solidFill>
                      <a:srgbClr val="002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 예</a:t>
                      </a:r>
                    </a:p>
                  </a:txBody>
                  <a:tcPr marL="54864" marR="54864" marT="27432" marB="27432" anchor="ctr">
                    <a:solidFill>
                      <a:srgbClr val="00204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2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3D BM 열 복사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선택한 3D BM 열의 값을 그대로 복사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Drawing Number</a:t>
                      </a:r>
                    </a:p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← DRAWING NUMBER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2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PCWBS 파일 매핑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3번 탭의 비교 방식으로 PCWBS 행을 찾아, 지정한 PCWBS 열 값을 입력</a:t>
                      </a:r>
                    </a:p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(Category1~10 전용)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Category1~5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2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고정값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입력한 값을 모든 행에 동일하게 입력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Purpose = PO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2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빈칸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값을 비워 둠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Etc1~3, Rev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2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자동번호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1부터 행 순서대로 번호 입력 (별도 설정 없음)</a:t>
                      </a:r>
                    </a:p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6번 파일 분할 시 파일마다 1부터 다시 매김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2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특수규칙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Part: 'Part 조건 규칙'을 위에서부터 검사 → 처음 일치한 값, 없으면 Part 기본값</a:t>
                      </a:r>
                    </a:p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Unit Size: 'Unit Size 예외 Item 열' 조건 일치 시 'U x mm', 아니면 기본값</a:t>
                      </a:r>
                    </a:p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(Part · Unit Size 열 전용)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Part, Unit Size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38642" y="4965192"/>
            <a:ext cx="8273558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300"/>
              </a:spcAft>
            </a:pPr>
            <a:r>
              <a:rPr sz="9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※ </a:t>
            </a: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CD_SITE, PrpsProj(2), Times, Purpose(PO), Mtrl Group, FileName은 '기본 설정' 값으로 입력됩니다.</a:t>
            </a:r>
          </a:p>
          <a:p>
            <a:pPr>
              <a:spcAft>
                <a:spcPts val="0"/>
              </a:spcAft>
            </a:pPr>
            <a:r>
              <a:rPr sz="9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※ </a:t>
            </a: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특수규칙은 Part / Unit Size 외의 열에서는 선택할 수 없습니다 (적용 시 안내 메시지).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직사각형 5">
            <a:extLst>
              <a:ext uri="{FF2B5EF4-FFF2-40B4-BE49-F238E27FC236}">
                <a16:creationId xmlns:a16="http://schemas.microsoft.com/office/drawing/2014/main" id="{140FE816-CF1D-4BB5-DAC1-94EB7D8964EB}"/>
              </a:ext>
            </a:extLst>
          </p:cNvPr>
          <p:cNvSpPr/>
          <p:nvPr/>
        </p:nvSpPr>
        <p:spPr bwMode="auto">
          <a:xfrm>
            <a:off x="0" y="506085"/>
            <a:ext cx="9144000" cy="54006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endParaRPr lang="ko-KR" altLang="en-US" sz="12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9924F9-D99F-D50C-C4F6-47AD6A60C7D3}"/>
              </a:ext>
            </a:extLst>
          </p:cNvPr>
          <p:cNvSpPr txBox="1"/>
          <p:nvPr/>
        </p:nvSpPr>
        <p:spPr>
          <a:xfrm>
            <a:off x="2127494" y="506085"/>
            <a:ext cx="6568097" cy="54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endParaRPr lang="ko-KR" altLang="en-US" dirty="0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4A26C798-8DA7-3EEA-43BA-697536CD1372}"/>
              </a:ext>
            </a:extLst>
          </p:cNvPr>
          <p:cNvSpPr/>
          <p:nvPr/>
        </p:nvSpPr>
        <p:spPr bwMode="auto">
          <a:xfrm>
            <a:off x="438642" y="470115"/>
            <a:ext cx="1321035" cy="612000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 구성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/>
            </a:r>
            <a:endParaRPr lang="en-US" altLang="ko-KR" sz="1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BAB421-7724-94A6-59CE-8B5F3822B0A8}"/>
              </a:ext>
            </a:extLst>
          </p:cNvPr>
          <p:cNvSpPr txBox="1"/>
          <p:nvPr/>
        </p:nvSpPr>
        <p:spPr>
          <a:xfrm>
            <a:off x="1863726" y="506085"/>
            <a:ext cx="6889756" cy="54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kern="0" dirty="0"/>
              <a:t>Insulation Temp(W열)와 Paint Symbol(X열)을 자동으로 입력합니다</a:t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endParaRPr lang="en-US" altLang="ko-KR" dirty="0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6B59F3E-BA50-F9FC-D40C-6CE8CBA9B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147" y="75022"/>
            <a:ext cx="5412877" cy="35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ko-KR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6.  |</a:t>
            </a:r>
            <a:r>
              <a:rPr lang="ko-KR" altLang="en-US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Temperature &amp; Painting</a:t>
            </a:r>
            <a:endParaRPr lang="ko-KR" altLang="en-US" sz="1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Picture 9" descr="pa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42" y="1170432"/>
            <a:ext cx="5394960" cy="347832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1290477" y="1489870"/>
            <a:ext cx="4465039" cy="858934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3421" y="1422814"/>
            <a:ext cx="201168" cy="20116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22421" y="2465932"/>
            <a:ext cx="1455219" cy="777300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55365" y="2398876"/>
            <a:ext cx="201168" cy="20116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06035" y="2465932"/>
            <a:ext cx="1437472" cy="777300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38979" y="2398876"/>
            <a:ext cx="201168" cy="20116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1903" y="2465932"/>
            <a:ext cx="1451670" cy="777300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04847" y="2398876"/>
            <a:ext cx="201168" cy="20116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90477" y="3548473"/>
            <a:ext cx="4465039" cy="869582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23421" y="3481417"/>
            <a:ext cx="201168" cy="20116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90477" y="4449999"/>
            <a:ext cx="4465039" cy="141972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23421" y="4382943"/>
            <a:ext cx="201168" cy="20116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6482" y="1143000"/>
            <a:ext cx="2695718" cy="4206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1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① </a:t>
            </a:r>
            <a:r>
              <a:rPr sz="105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파일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Display Format(4번 결과 자동 연결)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Line List: 헤더 시작·종료, 데이터 시작 행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Painting Code Table: 헤더 행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② </a:t>
            </a:r>
            <a:r>
              <a:rPr sz="105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공통 · Line List 매칭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Drawing Number ↔ Line No. 매칭 방식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Sh't No. 구분자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③ </a:t>
            </a:r>
            <a:r>
              <a:rPr sz="105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1. Insulation Temp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Line List 온도 열 / Display 열 기준 규칙 파일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AMB 대체 온도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④ </a:t>
            </a:r>
            <a:r>
              <a:rPr sz="105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2.1 Paint Code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Painting Code Table 계산 / 규칙 파일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⑤ </a:t>
            </a:r>
            <a:r>
              <a:rPr sz="105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2.2 / 2.3 규칙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Class → Material Group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Insulation Symbol → Paint Suffix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Table 계산 방식에서만 표시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⑥ </a:t>
            </a:r>
            <a:r>
              <a:rPr sz="105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저장 / 실행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규칙 저장 · 불러오기 (JSON)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「Temperature &amp; Painting 실행」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642" y="4965192"/>
            <a:ext cx="960120" cy="384048"/>
          </a:xfrm>
          <a:prstGeom prst="roundRect">
            <a:avLst/>
          </a:prstGeom>
          <a:solidFill>
            <a:srgbClr val="00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 파일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2770" y="4965192"/>
            <a:ext cx="724943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8288" tIns="0" bIns="0" wrap="square"/>
          <a:lstStyle/>
          <a:p>
            <a:pPr algn="l"/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Display_Format_TempPaint.xlsx  –  Display_Format, Temperature_Issues, Painting_Issues, LineList_Mapping_Summary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직사각형 5">
            <a:extLst>
              <a:ext uri="{FF2B5EF4-FFF2-40B4-BE49-F238E27FC236}">
                <a16:creationId xmlns:a16="http://schemas.microsoft.com/office/drawing/2014/main" id="{140FE816-CF1D-4BB5-DAC1-94EB7D8964EB}"/>
              </a:ext>
            </a:extLst>
          </p:cNvPr>
          <p:cNvSpPr/>
          <p:nvPr/>
        </p:nvSpPr>
        <p:spPr bwMode="auto">
          <a:xfrm>
            <a:off x="0" y="506085"/>
            <a:ext cx="9144000" cy="54006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endParaRPr lang="ko-KR" altLang="en-US" sz="12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9924F9-D99F-D50C-C4F6-47AD6A60C7D3}"/>
              </a:ext>
            </a:extLst>
          </p:cNvPr>
          <p:cNvSpPr txBox="1"/>
          <p:nvPr/>
        </p:nvSpPr>
        <p:spPr>
          <a:xfrm>
            <a:off x="2127494" y="506085"/>
            <a:ext cx="6568097" cy="54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endParaRPr lang="ko-KR" altLang="en-US" dirty="0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4A26C798-8DA7-3EEA-43BA-697536CD1372}"/>
              </a:ext>
            </a:extLst>
          </p:cNvPr>
          <p:cNvSpPr/>
          <p:nvPr/>
        </p:nvSpPr>
        <p:spPr bwMode="auto">
          <a:xfrm>
            <a:off x="438642" y="470115"/>
            <a:ext cx="1321035" cy="612000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계산 방식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/>
            </a:r>
            <a:endParaRPr lang="en-US" altLang="ko-KR" sz="1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BAB421-7724-94A6-59CE-8B5F3822B0A8}"/>
              </a:ext>
            </a:extLst>
          </p:cNvPr>
          <p:cNvSpPr txBox="1"/>
          <p:nvPr/>
        </p:nvSpPr>
        <p:spPr>
          <a:xfrm>
            <a:off x="1863726" y="506085"/>
            <a:ext cx="6889756" cy="54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kern="0" dirty="0"/>
              <a:t>Line No. 매칭과 Paint Symbol 계산 기준</a:t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endParaRPr lang="en-US" altLang="ko-KR" dirty="0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6B59F3E-BA50-F9FC-D40C-6CE8CBA9B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147" y="75022"/>
            <a:ext cx="5412877" cy="35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ko-KR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6.  |</a:t>
            </a:r>
            <a:r>
              <a:rPr lang="ko-KR" altLang="en-US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Temperature &amp; Painting</a:t>
            </a:r>
            <a:endParaRPr lang="ko-KR" altLang="en-US" sz="1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642" y="1170432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Line No. 매칭 방식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38642" y="1490472"/>
          <a:ext cx="8273557" cy="164592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073035"/>
                <a:gridCol w="5200522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매칭 방식</a:t>
                      </a:r>
                    </a:p>
                  </a:txBody>
                  <a:tcPr marL="54864" marR="54864" marT="27432" marB="27432" anchor="ctr">
                    <a:solidFill>
                      <a:srgbClr val="002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설명</a:t>
                      </a:r>
                    </a:p>
                  </a:txBody>
                  <a:tcPr marL="54864" marR="54864" marT="27432" marB="27432" anchor="ctr">
                    <a:solidFill>
                      <a:srgbClr val="00204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2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완전 일치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Display Drawing Number = Line List Line No.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2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Sh't No. 제거 후 일치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마지막 구분자 뒤 Text(Sh't No.)를 지우고 비교</a:t>
                      </a:r>
                    </a:p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예) 304-PW-0051-01 → 304-PW-0051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2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Display 값에 Line No. 포함할 경우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Drawing Number 안에 Line No.가 들어 있으면 매칭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2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Line No. 값에 Display 값 포함할 경우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Line No. 안에 Drawing Number가 들어 있으면 매칭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38642" y="3364992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Paint Symbol 계산 (Painting Code Table 계산 방식)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642" y="3776472"/>
            <a:ext cx="13258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8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Class → Material Group</a:t>
            </a:r>
          </a:p>
          <a:p>
            <a:pPr algn="ctr"/>
            <a:r>
              <a:rPr sz="110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A1C → 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4522" y="3776472"/>
            <a:ext cx="365760" cy="56692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30282" y="3776472"/>
            <a:ext cx="13258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8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Insulation Symbol → Paint Suffix</a:t>
            </a:r>
          </a:p>
          <a:p>
            <a:pPr algn="ctr"/>
            <a:r>
              <a:rPr sz="110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H → 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162" y="3776472"/>
            <a:ext cx="365760" cy="56692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21922" y="3776472"/>
            <a:ext cx="13258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8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Paint Type</a:t>
            </a:r>
          </a:p>
          <a:p>
            <a:pPr algn="ctr"/>
            <a:r>
              <a:rPr sz="110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CS-H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7802" y="3776472"/>
            <a:ext cx="365760" cy="56692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13562" y="3776472"/>
            <a:ext cx="13258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8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Painting 적용 Temp.</a:t>
            </a:r>
          </a:p>
          <a:p>
            <a:pPr algn="ctr"/>
            <a:r>
              <a:rPr sz="110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150 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442" y="3776472"/>
            <a:ext cx="365760" cy="56692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05202" y="3776472"/>
            <a:ext cx="1325880" cy="566928"/>
          </a:xfrm>
          <a:prstGeom prst="roundRect">
            <a:avLst/>
          </a:prstGeom>
          <a:solidFill>
            <a:srgbClr val="002040"/>
          </a:solidFill>
          <a:ln w="15875">
            <a:solidFill>
              <a:srgbClr val="0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8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Paint Symbol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B1→B2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42" y="4480560"/>
            <a:ext cx="8273558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300"/>
              </a:spcAft>
            </a:pPr>
            <a:r>
              <a:rPr sz="9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Paint Type(CS-H)과 Painting 적용 Temp. 구간(120 ℃ &lt; t ≤ 200 ℃)으로 Painting Code Table에서 Paint Symbol을 찾습니다.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온도값: 범위(180-200)는 큰 값 적용, AMB는 'AMB 대체 온도'로 변환, N/A · HOLD는 Temperature_Issues에 기록</a:t>
            </a:r>
          </a:p>
          <a:p>
            <a:pPr>
              <a:spcAft>
                <a:spcPts val="0"/>
              </a:spcAft>
            </a:pPr>
            <a:r>
              <a:rPr sz="9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Insulation / Painting 적용 Temp.는 Line List의 Operating · Max. Operating · Design Temp. 중 프로젝트 기준에 맞는 열을 선택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직사각형 5">
            <a:extLst>
              <a:ext uri="{FF2B5EF4-FFF2-40B4-BE49-F238E27FC236}">
                <a16:creationId xmlns:a16="http://schemas.microsoft.com/office/drawing/2014/main" id="{140FE816-CF1D-4BB5-DAC1-94EB7D8964EB}"/>
              </a:ext>
            </a:extLst>
          </p:cNvPr>
          <p:cNvSpPr/>
          <p:nvPr/>
        </p:nvSpPr>
        <p:spPr bwMode="auto">
          <a:xfrm>
            <a:off x="0" y="506085"/>
            <a:ext cx="9144000" cy="54006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endParaRPr lang="ko-KR" altLang="en-US" sz="12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9924F9-D99F-D50C-C4F6-47AD6A60C7D3}"/>
              </a:ext>
            </a:extLst>
          </p:cNvPr>
          <p:cNvSpPr txBox="1"/>
          <p:nvPr/>
        </p:nvSpPr>
        <p:spPr>
          <a:xfrm>
            <a:off x="2127494" y="506085"/>
            <a:ext cx="6568097" cy="54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endParaRPr lang="ko-KR" altLang="en-US" dirty="0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4A26C798-8DA7-3EEA-43BA-697536CD1372}"/>
              </a:ext>
            </a:extLst>
          </p:cNvPr>
          <p:cNvSpPr/>
          <p:nvPr/>
        </p:nvSpPr>
        <p:spPr bwMode="auto">
          <a:xfrm>
            <a:off x="438642" y="470115"/>
            <a:ext cx="1321035" cy="612000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규칙 파일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/>
            </a:r>
            <a:endParaRPr lang="en-US" altLang="ko-KR" sz="1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BAB421-7724-94A6-59CE-8B5F3822B0A8}"/>
              </a:ext>
            </a:extLst>
          </p:cNvPr>
          <p:cNvSpPr txBox="1"/>
          <p:nvPr/>
        </p:nvSpPr>
        <p:spPr>
          <a:xfrm>
            <a:off x="1863726" y="506085"/>
            <a:ext cx="6889756" cy="54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kern="0" dirty="0"/>
              <a:t>Display 열 값(Fluid, Class 등)별로 온도 · Paint Symbol 일괄 입력</a:t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endParaRPr lang="en-US" altLang="ko-KR" dirty="0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6B59F3E-BA50-F9FC-D40C-6CE8CBA9B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147" y="75022"/>
            <a:ext cx="5412877" cy="35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ko-KR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6.  |</a:t>
            </a:r>
            <a:r>
              <a:rPr lang="ko-KR" altLang="en-US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Temperature &amp; Painting</a:t>
            </a:r>
            <a:endParaRPr lang="ko-KR" altLang="en-US" sz="1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642" y="1170432"/>
            <a:ext cx="3999619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1. Insulation Temp 규칙 파일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38642" y="1490472"/>
          <a:ext cx="3999618" cy="164592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562351"/>
                <a:gridCol w="999904"/>
                <a:gridCol w="1437363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  열 이름</a:t>
                      </a:r>
                    </a:p>
                  </a:txBody>
                  <a:tcPr marL="54864" marR="54864" marT="27432" marB="27432" anchor="ctr">
                    <a:solidFill>
                      <a:srgbClr val="002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  값</a:t>
                      </a:r>
                    </a:p>
                  </a:txBody>
                  <a:tcPr marL="54864" marR="54864" marT="27432" marB="27432" anchor="ctr">
                    <a:solidFill>
                      <a:srgbClr val="002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  Insulation Temp</a:t>
                      </a:r>
                    </a:p>
                  </a:txBody>
                  <a:tcPr marL="54864" marR="54864" marT="27432" marB="27432" anchor="ctr">
                    <a:solidFill>
                      <a:srgbClr val="00204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Fluid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Fluid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FW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A1C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Class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B2S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AMB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Fluid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*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712581" y="1170432"/>
            <a:ext cx="3999619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2.1 Paint Symbol 규칙 파일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712581" y="1490472"/>
          <a:ext cx="3999618" cy="13716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687339"/>
                <a:gridCol w="874916"/>
                <a:gridCol w="1437363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  열 이름</a:t>
                      </a:r>
                    </a:p>
                  </a:txBody>
                  <a:tcPr marL="54864" marR="54864" marT="27432" marB="27432" anchor="ctr">
                    <a:solidFill>
                      <a:srgbClr val="002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  값</a:t>
                      </a:r>
                    </a:p>
                  </a:txBody>
                  <a:tcPr marL="54864" marR="54864" marT="27432" marB="27432" anchor="ctr">
                    <a:solidFill>
                      <a:srgbClr val="002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  Paint Symbol</a:t>
                      </a:r>
                    </a:p>
                  </a:txBody>
                  <a:tcPr marL="54864" marR="54864" marT="27432" marB="27432" anchor="ctr">
                    <a:solidFill>
                      <a:srgbClr val="00204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Insulation Symbol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B1→B2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Insulation Symbol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B1→B2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A1C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A1→A4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Insulation Symbol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*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438642" y="2039112"/>
            <a:ext cx="3999619" cy="548640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642" y="3364992"/>
            <a:ext cx="8273558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작성 규칙 (두 파일 공통)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1행은 제목(자유롭게 작성), 2행부터 규칙 입력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 = Display Format 열 이름 / B = 그 열의 값 (정확히 일치, 대소문자 무시, '*' = 모든 값) / C = 입력할 값</a:t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위에서부터 검사해 처음 일치한 규칙 1개만 적용 (VLOOKUP 방식)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   예) Fluid = FW 이고 Class = A1C 인 행 → 위쪽 'Fluid FW → 45'가 먼저 일치하므로 45 입력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조건이 겹치면 우선 적용할 규칙을 위에 배치, 마지막 행에 '*'로 기본값 지정 가능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일치하는 규칙이 없으면 빈칸으로 두고 Temperature_Issues / Painting_Issues에 기록</a:t>
            </a:r>
          </a:p>
          <a:p>
            <a:pPr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※ 각 화면의 「규칙 파일 예시」 버튼으로 예시 Excel 생성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직사각형 5">
            <a:extLst>
              <a:ext uri="{FF2B5EF4-FFF2-40B4-BE49-F238E27FC236}">
                <a16:creationId xmlns:a16="http://schemas.microsoft.com/office/drawing/2014/main" id="{140FE816-CF1D-4BB5-DAC1-94EB7D8964EB}"/>
              </a:ext>
            </a:extLst>
          </p:cNvPr>
          <p:cNvSpPr/>
          <p:nvPr/>
        </p:nvSpPr>
        <p:spPr bwMode="auto">
          <a:xfrm>
            <a:off x="0" y="506085"/>
            <a:ext cx="9144000" cy="54006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endParaRPr lang="ko-KR" altLang="en-US" sz="12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9924F9-D99F-D50C-C4F6-47AD6A60C7D3}"/>
              </a:ext>
            </a:extLst>
          </p:cNvPr>
          <p:cNvSpPr txBox="1"/>
          <p:nvPr/>
        </p:nvSpPr>
        <p:spPr>
          <a:xfrm>
            <a:off x="2127494" y="506085"/>
            <a:ext cx="6568097" cy="54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endParaRPr lang="ko-KR" altLang="en-US" dirty="0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4A26C798-8DA7-3EEA-43BA-697536CD1372}"/>
              </a:ext>
            </a:extLst>
          </p:cNvPr>
          <p:cNvSpPr/>
          <p:nvPr/>
        </p:nvSpPr>
        <p:spPr bwMode="auto">
          <a:xfrm>
            <a:off x="438642" y="470115"/>
            <a:ext cx="1321035" cy="612000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파일 분할 저장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/>
            </a:r>
            <a:endParaRPr lang="en-US" altLang="ko-KR" sz="1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BAB421-7724-94A6-59CE-8B5F3822B0A8}"/>
              </a:ext>
            </a:extLst>
          </p:cNvPr>
          <p:cNvSpPr txBox="1"/>
          <p:nvPr/>
        </p:nvSpPr>
        <p:spPr>
          <a:xfrm>
            <a:off x="1863726" y="506085"/>
            <a:ext cx="6889756" cy="54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kern="0" dirty="0"/>
              <a:t>최종 Display Format 파일을 기준 행 수로 나누어 저장합니다</a:t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r>
              <a:rPr lang="ko-KR" altLang="en-US" kern="0" dirty="0"/>
              <a:t/>
            </a:r>
            <a:r>
              <a:rPr lang="en-US" altLang="ko-KR" kern="0" dirty="0"/>
              <a:t/>
            </a:r>
            <a:endParaRPr lang="en-US" altLang="ko-KR" dirty="0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6B59F3E-BA50-F9FC-D40C-6CE8CBA9B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147" y="75022"/>
            <a:ext cx="5412877" cy="35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ko-KR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  |</a:t>
            </a:r>
            <a:r>
              <a:rPr lang="ko-KR" altLang="en-US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File Split &amp; Export</a:t>
            </a:r>
            <a:endParaRPr lang="ko-KR" altLang="en-US" sz="1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Picture 9" descr="spli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42" y="1170432"/>
            <a:ext cx="5394960" cy="1437472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1290477" y="1489870"/>
            <a:ext cx="4465039" cy="411720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3421" y="1422814"/>
            <a:ext cx="201168" cy="20116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0477" y="1954830"/>
            <a:ext cx="4465039" cy="411720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23421" y="1887774"/>
            <a:ext cx="201168" cy="20116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90477" y="2412692"/>
            <a:ext cx="4465039" cy="88732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23421" y="2345636"/>
            <a:ext cx="201168" cy="20116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6482" y="1143000"/>
            <a:ext cx="2695718" cy="4206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1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① </a:t>
            </a:r>
            <a:r>
              <a:rPr sz="105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파일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Display Format 파일(5번 결과 자동 연결) · 시트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저장 폴더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② </a:t>
            </a:r>
            <a:r>
              <a:rPr sz="105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분할 설정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기본 파일명, 기준 행 수(기본 60,000)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Drawing Number · FileName 열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Drawing Number가 바뀌는 행에서만 분할 (같은 도면은 한 파일에 유지)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③ </a:t>
            </a:r>
            <a:r>
              <a:rPr sz="1050" b="1">
                <a:solidFill>
                  <a:srgbClr val="002040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「분할 미리보기」로 파일 수 확인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「최종 파일 분할 저장」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642" y="3639312"/>
            <a:ext cx="960120" cy="384048"/>
          </a:xfrm>
          <a:prstGeom prst="roundRect">
            <a:avLst/>
          </a:prstGeom>
          <a:solidFill>
            <a:srgbClr val="00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 파일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2770" y="3639312"/>
            <a:ext cx="724943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8288" tIns="0" bIns="0" wrap="square"/>
          <a:lstStyle/>
          <a:p>
            <a:pPr algn="l"/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Final_Export\Display_Format_01.xlsx …  (파일마다 NO 1부터, FileName = 파일명)  +  Split_Summary.xlsx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779cdc-ba29-4c89-9154-8165b8d0d8e2" xsi:nil="true"/>
    <lcf76f155ced4ddcb4097134ff3c332f xmlns="7f9d3bad-bf64-4430-a008-4da98286e4fa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9C00301A2DD524C8513998FC8105779" ma:contentTypeVersion="10" ma:contentTypeDescription="새 문서를 만듭니다." ma:contentTypeScope="" ma:versionID="78b498c34ee47b8390439fd89d166be0">
  <xsd:schema xmlns:xsd="http://www.w3.org/2001/XMLSchema" xmlns:xs="http://www.w3.org/2001/XMLSchema" xmlns:p="http://schemas.microsoft.com/office/2006/metadata/properties" xmlns:ns2="7f9d3bad-bf64-4430-a008-4da98286e4fa" xmlns:ns3="22779cdc-ba29-4c89-9154-8165b8d0d8e2" targetNamespace="http://schemas.microsoft.com/office/2006/metadata/properties" ma:root="true" ma:fieldsID="5c35fd8ef74cdd3c3b911b810ab1da24" ns2:_="" ns3:_="">
    <xsd:import namespace="7f9d3bad-bf64-4430-a008-4da98286e4fa"/>
    <xsd:import namespace="22779cdc-ba29-4c89-9154-8165b8d0d8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9d3bad-bf64-4430-a008-4da98286e4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d7d4fb0a-dc12-4dda-b0a9-dce29b5965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779cdc-ba29-4c89-9154-8165b8d0d8e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ee46fb4-3f1a-4e1a-b042-217ae273e3cd}" ma:internalName="TaxCatchAll" ma:showField="CatchAllData" ma:web="22779cdc-ba29-4c89-9154-8165b8d0d8e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215E38-9C86-4614-8308-8F922243134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460CCC6-2F36-491A-9272-A772745D6A43}">
  <ds:schemaRefs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7ed42693-26c5-449f-a5c1-8da7fce0f578"/>
    <ds:schemaRef ds:uri="c7e8f192-9db0-4232-ba38-f077cf06f367"/>
    <ds:schemaRef ds:uri="http://schemas.microsoft.com/sharepoint/v4"/>
    <ds:schemaRef ds:uri="http://schemas.microsoft.com/sharepoint/v3"/>
    <ds:schemaRef ds:uri="22779cdc-ba29-4c89-9154-8165b8d0d8e2"/>
    <ds:schemaRef ds:uri="7f9d3bad-bf64-4430-a008-4da98286e4fa"/>
  </ds:schemaRefs>
</ds:datastoreItem>
</file>

<file path=customXml/itemProps3.xml><?xml version="1.0" encoding="utf-8"?>
<ds:datastoreItem xmlns:ds="http://schemas.openxmlformats.org/officeDocument/2006/customXml" ds:itemID="{60DABD37-CD75-48DF-87EA-B8FB648F67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9d3bad-bf64-4430-a008-4da98286e4fa"/>
    <ds:schemaRef ds:uri="22779cdc-ba29-4c89-9154-8165b8d0d8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24538</TotalTime>
  <Words>1761</Words>
  <Application>Microsoft Office PowerPoint</Application>
  <PresentationFormat>화면 슬라이드 쇼(4:3)</PresentationFormat>
  <Paragraphs>331</Paragraphs>
  <Slides>41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6" baseType="lpstr">
      <vt:lpstr>굴림</vt:lpstr>
      <vt:lpstr>맑은 고딕</vt:lpstr>
      <vt:lpstr>Arial</vt:lpstr>
      <vt:lpstr>Wingdings</vt:lpstr>
      <vt:lpstr>Default Design</vt:lpstr>
      <vt:lpstr>AI D/S 문서 추출 Manual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XP SP3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 LAB</dc:creator>
  <cp:lastModifiedBy>김성은(플랜트BPI팀)</cp:lastModifiedBy>
  <cp:revision>1144</cp:revision>
  <cp:lastPrinted>2019-05-30T23:38:51Z</cp:lastPrinted>
  <dcterms:created xsi:type="dcterms:W3CDTF">2012-01-25T07:43:56Z</dcterms:created>
  <dcterms:modified xsi:type="dcterms:W3CDTF">2026-01-26T07:53:12Z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0x010100C9C00301A2DD524C8513998FC8105779</vt:lpwstr>
  </property>
  <property fmtid="{D5CDD505-2E9C-101B-9397-08002B2CF9AE}" pid="3" name="Functional Product Code">
    <vt:lpwstr/>
  </property>
  <property fmtid="{D5CDD505-2E9C-101B-9397-08002B2CF9AE}" pid="4" name="Project Code">
    <vt:lpwstr/>
  </property>
  <property fmtid="{D5CDD505-2E9C-101B-9397-08002B2CF9AE}" pid="5" name="Cost Code">
    <vt:lpwstr/>
  </property>
  <property fmtid="{D5CDD505-2E9C-101B-9397-08002B2CF9AE}" pid="6" name="ItemRetentionFormula">
    <vt:lpwstr>&lt;formula id="Microsoft.Office.RecordsManagement.PolicyFeatures.Expiration.Formula.BuiltIn"&gt;&lt;number&gt;35&lt;/number&gt;&lt;property&gt;Created&lt;/property&gt;&lt;propertyId&gt;8c06beca-0777-48f7-91c7-6da68bc07b69&lt;/propertyId&gt;&lt;period&gt;months&lt;/period&gt;&lt;/formula&gt;</vt:lpwstr>
  </property>
  <property fmtid="{D5CDD505-2E9C-101B-9397-08002B2CF9AE}" pid="7" name="_dlc_policyId">
    <vt:lpwstr>0x010100F2474AE5FE53204C835D4C6F86621033|-2027218648</vt:lpwstr>
  </property>
</Properties>
</file>